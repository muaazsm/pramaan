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hyperlink" Target="https://github.com/MuaazSM/pramaa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25780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z="1000"/>
          </a:p>
          <a:p>
            <a:pPr marL="285750" indent="-285750" algn="l">
              <a:lnSpc>
                <a:spcPct val="120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  <a:r>
              <a:rPr sz="1600" b="1" i="0">
                <a:solidFill>
                  <a:srgbClr val="0B0D12"/>
                </a:solidFill>
                <a:latin typeface="Arial"/>
              </a:rPr>
              <a:t> 26150</a:t>
            </a:r>
          </a:p>
          <a:p>
            <a:pPr marL="285750" indent="-285750" algn="l">
              <a:lnSpc>
                <a:spcPct val="120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r>
              <a:rPr sz="1400" b="0" i="0">
                <a:solidFill>
                  <a:srgbClr val="0B0D12"/>
                </a:solidFill>
                <a:latin typeface="Arial"/>
              </a:rPr>
              <a:t> Development of a Multi-Vendor DVR/NVR Forensic Analysis Tool for Standardized Acquisition, Recovery, and Analysis of Surveillance Evidence</a:t>
            </a:r>
          </a:p>
          <a:p>
            <a:pPr marL="285750" indent="-285750" algn="l">
              <a:lnSpc>
                <a:spcPct val="120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  <a:r>
              <a:rPr sz="1600" b="1" i="0">
                <a:solidFill>
                  <a:srgbClr val="0B0D12"/>
                </a:solidFill>
                <a:latin typeface="Arial"/>
              </a:rPr>
              <a:t> Blockchain &amp; Cybersecurity</a:t>
            </a:r>
          </a:p>
          <a:p>
            <a:pPr marL="285750" indent="-285750" algn="l">
              <a:lnSpc>
                <a:spcPct val="120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PS Category-</a:t>
            </a:r>
            <a:r>
              <a:rPr sz="1600" b="1" i="0">
                <a:solidFill>
                  <a:srgbClr val="0B0D12"/>
                </a:solidFill>
                <a:latin typeface="Arial"/>
              </a:rPr>
              <a:t> Software</a:t>
            </a:r>
          </a:p>
          <a:p>
            <a:pPr marL="285750" indent="-285750" algn="l">
              <a:lnSpc>
                <a:spcPct val="120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  <a:r>
              <a:rPr sz="1600" b="1" i="0">
                <a:solidFill>
                  <a:srgbClr val="0B0D12"/>
                </a:solidFill>
                <a:latin typeface="Arial"/>
              </a:rPr>
              <a:t> &lt;TEAM_ID&gt;</a:t>
            </a:r>
          </a:p>
          <a:p>
            <a:pPr marL="285750" indent="-285750" algn="l">
              <a:lnSpc>
                <a:spcPct val="1200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r>
              <a:rPr sz="1600" b="1" i="0">
                <a:solidFill>
                  <a:srgbClr val="0B0D12"/>
                </a:solidFill>
                <a:latin typeface="Arial"/>
              </a:rPr>
              <a:t> &lt;TEAM_NAME&gt;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8" name="Picture 37" descr="logo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932688"/>
            <a:ext cx="786384" cy="78638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316736" y="914400"/>
            <a:ext cx="29260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B0D12"/>
                </a:solidFill>
                <a:latin typeface="Arial"/>
              </a:rPr>
              <a:t>pramaan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35024" y="1389888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6E6CF5"/>
                </a:solidFill>
                <a:latin typeface="Arial"/>
              </a:rPr>
              <a:t>Proof from any DVR.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2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Pramaan — one workflow from any DVR disk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to a Section 63-ready evidence package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411480" y="1115568"/>
            <a:ext cx="11365992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0D12"/>
                </a:solidFill>
                <a:latin typeface="Arial"/>
              </a:rPr>
              <a:t>Any DVR/NVR disk in; a signed, independently verifiable evidence package out. Fully offline.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/>
          <a:lstStyle/>
          <a:p>
            <a:pPr algn="ctr"/>
            <a:r>
              <a:rPr lang="en-US" dirty="0" sz="1200"/>
              <a:t>&lt;TEAM_NAME&gt;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TextBox 15362"/>
          <p:cNvSpPr txBox="1"/>
          <p:nvPr/>
        </p:nvSpPr>
        <p:spPr>
          <a:xfrm>
            <a:off x="411480" y="157276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E6CF5"/>
                </a:solidFill>
                <a:latin typeface="Arial"/>
              </a:rPr>
              <a:t>❖ </a:t>
            </a:r>
            <a:r>
              <a:rPr sz="1400" b="1" i="0">
                <a:solidFill>
                  <a:srgbClr val="6E6CF5"/>
                </a:solidFill>
                <a:latin typeface="Arial"/>
              </a:rPr>
              <a:t>Proposed Solution — what it does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411480" y="1892807"/>
            <a:ext cx="1711452" cy="786384"/>
          </a:xfrm>
          <a:prstGeom prst="roundRect">
            <a:avLst>
              <a:gd name="adj" fmla="val 6000"/>
            </a:avLst>
          </a:prstGeom>
          <a:solidFill>
            <a:srgbClr val="F0F0FE"/>
          </a:solidFill>
          <a:ln>
            <a:noFill/>
          </a:ln>
          <a:effectLst/>
        </p:spPr>
        <p:txBody>
          <a:bodyPr rtlCol="0" anchor="ctr" wrap="square" tIns="36576" bIns="36576" rIns="54864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6E6CF5"/>
                </a:solidFill>
                <a:latin typeface="Arial"/>
              </a:rPr>
              <a:t>1  </a:t>
            </a:r>
            <a:r>
              <a:rPr sz="1400" b="1" i="0">
                <a:solidFill>
                  <a:srgbClr val="0B0D12"/>
                </a:solidFill>
                <a:latin typeface="Arial"/>
              </a:rPr>
              <a:t>Image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479"/>
                </a:solidFill>
                <a:latin typeface="Arial"/>
              </a:rPr>
              <a:t>read-only E01 / raw</a:t>
            </a:r>
          </a:p>
        </p:txBody>
      </p:sp>
      <p:sp>
        <p:nvSpPr>
          <p:cNvPr id="15365" name="Right Arrow 15364"/>
          <p:cNvSpPr/>
          <p:nvPr/>
        </p:nvSpPr>
        <p:spPr>
          <a:xfrm>
            <a:off x="2159508" y="2203704"/>
            <a:ext cx="146304" cy="164592"/>
          </a:xfrm>
          <a:prstGeom prst="rightArrow">
            <a:avLst/>
          </a:prstGeom>
          <a:solidFill>
            <a:srgbClr val="6E6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66" name="Rounded Rectangle 15365"/>
          <p:cNvSpPr/>
          <p:nvPr/>
        </p:nvSpPr>
        <p:spPr>
          <a:xfrm>
            <a:off x="2342388" y="1892807"/>
            <a:ext cx="1711452" cy="786384"/>
          </a:xfrm>
          <a:prstGeom prst="roundRect">
            <a:avLst>
              <a:gd name="adj" fmla="val 6000"/>
            </a:avLst>
          </a:prstGeom>
          <a:solidFill>
            <a:srgbClr val="F0F0FE"/>
          </a:solidFill>
          <a:ln>
            <a:noFill/>
          </a:ln>
          <a:effectLst/>
        </p:spPr>
        <p:txBody>
          <a:bodyPr rtlCol="0" anchor="ctr" wrap="square" tIns="36576" bIns="36576" rIns="54864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6E6CF5"/>
                </a:solidFill>
                <a:latin typeface="Arial"/>
              </a:rPr>
              <a:t>2  </a:t>
            </a:r>
            <a:r>
              <a:rPr sz="1400" b="1" i="0">
                <a:solidFill>
                  <a:srgbClr val="0B0D12"/>
                </a:solidFill>
                <a:latin typeface="Arial"/>
              </a:rPr>
              <a:t>Hash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479"/>
                </a:solidFill>
                <a:latin typeface="Arial"/>
              </a:rPr>
              <a:t>SHA-256 + MD5</a:t>
            </a:r>
          </a:p>
        </p:txBody>
      </p:sp>
      <p:sp>
        <p:nvSpPr>
          <p:cNvPr id="15367" name="Right Arrow 15366"/>
          <p:cNvSpPr/>
          <p:nvPr/>
        </p:nvSpPr>
        <p:spPr>
          <a:xfrm>
            <a:off x="4090416" y="2203704"/>
            <a:ext cx="146304" cy="164592"/>
          </a:xfrm>
          <a:prstGeom prst="rightArrow">
            <a:avLst/>
          </a:prstGeom>
          <a:solidFill>
            <a:srgbClr val="6E6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68" name="Rounded Rectangle 15367"/>
          <p:cNvSpPr/>
          <p:nvPr/>
        </p:nvSpPr>
        <p:spPr>
          <a:xfrm>
            <a:off x="4273296" y="1892807"/>
            <a:ext cx="1711452" cy="786384"/>
          </a:xfrm>
          <a:prstGeom prst="roundRect">
            <a:avLst>
              <a:gd name="adj" fmla="val 6000"/>
            </a:avLst>
          </a:prstGeom>
          <a:solidFill>
            <a:srgbClr val="F0F0FE"/>
          </a:solidFill>
          <a:ln>
            <a:noFill/>
          </a:ln>
          <a:effectLst/>
        </p:spPr>
        <p:txBody>
          <a:bodyPr rtlCol="0" anchor="ctr" wrap="square" tIns="36576" bIns="36576" rIns="54864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6E6CF5"/>
                </a:solidFill>
                <a:latin typeface="Arial"/>
              </a:rPr>
              <a:t>3  </a:t>
            </a:r>
            <a:r>
              <a:rPr sz="1400" b="1" i="0">
                <a:solidFill>
                  <a:srgbClr val="0B0D12"/>
                </a:solidFill>
                <a:latin typeface="Arial"/>
              </a:rPr>
              <a:t>Identify OEM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479"/>
                </a:solidFill>
                <a:latin typeface="Arial"/>
              </a:rPr>
              <a:t>→ tier A / B / C</a:t>
            </a:r>
          </a:p>
        </p:txBody>
      </p:sp>
      <p:sp>
        <p:nvSpPr>
          <p:cNvPr id="15369" name="Right Arrow 15368"/>
          <p:cNvSpPr/>
          <p:nvPr/>
        </p:nvSpPr>
        <p:spPr>
          <a:xfrm>
            <a:off x="6021324" y="2203704"/>
            <a:ext cx="146304" cy="164592"/>
          </a:xfrm>
          <a:prstGeom prst="rightArrow">
            <a:avLst/>
          </a:prstGeom>
          <a:solidFill>
            <a:srgbClr val="6E6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70" name="Rounded Rectangle 15369"/>
          <p:cNvSpPr/>
          <p:nvPr/>
        </p:nvSpPr>
        <p:spPr>
          <a:xfrm>
            <a:off x="6204204" y="1892807"/>
            <a:ext cx="1711452" cy="786384"/>
          </a:xfrm>
          <a:prstGeom prst="roundRect">
            <a:avLst>
              <a:gd name="adj" fmla="val 6000"/>
            </a:avLst>
          </a:prstGeom>
          <a:solidFill>
            <a:srgbClr val="F0F0FE"/>
          </a:solidFill>
          <a:ln>
            <a:noFill/>
          </a:ln>
          <a:effectLst/>
        </p:spPr>
        <p:txBody>
          <a:bodyPr rtlCol="0" anchor="ctr" wrap="square" tIns="36576" bIns="36576" rIns="54864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6E6CF5"/>
                </a:solidFill>
                <a:latin typeface="Arial"/>
              </a:rPr>
              <a:t>4  </a:t>
            </a:r>
            <a:r>
              <a:rPr sz="1400" b="1" i="0">
                <a:solidFill>
                  <a:srgbClr val="0B0D12"/>
                </a:solidFill>
                <a:latin typeface="Arial"/>
              </a:rPr>
              <a:t>Parse + recover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479"/>
                </a:solidFill>
                <a:latin typeface="Arial"/>
              </a:rPr>
              <a:t>incl. deleted footage</a:t>
            </a:r>
          </a:p>
        </p:txBody>
      </p:sp>
      <p:sp>
        <p:nvSpPr>
          <p:cNvPr id="15371" name="Right Arrow 15370"/>
          <p:cNvSpPr/>
          <p:nvPr/>
        </p:nvSpPr>
        <p:spPr>
          <a:xfrm>
            <a:off x="7952232" y="2203704"/>
            <a:ext cx="146304" cy="164592"/>
          </a:xfrm>
          <a:prstGeom prst="rightArrow">
            <a:avLst/>
          </a:prstGeom>
          <a:solidFill>
            <a:srgbClr val="6E6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72" name="Rounded Rectangle 15371"/>
          <p:cNvSpPr/>
          <p:nvPr/>
        </p:nvSpPr>
        <p:spPr>
          <a:xfrm>
            <a:off x="8135112" y="1892807"/>
            <a:ext cx="1711452" cy="786384"/>
          </a:xfrm>
          <a:prstGeom prst="roundRect">
            <a:avLst>
              <a:gd name="adj" fmla="val 6000"/>
            </a:avLst>
          </a:prstGeom>
          <a:solidFill>
            <a:srgbClr val="F0F0FE"/>
          </a:solidFill>
          <a:ln>
            <a:noFill/>
          </a:ln>
          <a:effectLst/>
        </p:spPr>
        <p:txBody>
          <a:bodyPr rtlCol="0" anchor="ctr" wrap="square" tIns="36576" bIns="36576" rIns="54864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6E6CF5"/>
                </a:solidFill>
                <a:latin typeface="Arial"/>
              </a:rPr>
              <a:t>5  </a:t>
            </a:r>
            <a:r>
              <a:rPr sz="1400" b="1" i="0">
                <a:solidFill>
                  <a:srgbClr val="0B0D12"/>
                </a:solidFill>
                <a:latin typeface="Arial"/>
              </a:rPr>
              <a:t>Normalise time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479"/>
                </a:solidFill>
                <a:latin typeface="Arial"/>
              </a:rPr>
              <a:t>four clocks → IST</a:t>
            </a:r>
          </a:p>
        </p:txBody>
      </p:sp>
      <p:sp>
        <p:nvSpPr>
          <p:cNvPr id="15373" name="Right Arrow 15372"/>
          <p:cNvSpPr/>
          <p:nvPr/>
        </p:nvSpPr>
        <p:spPr>
          <a:xfrm>
            <a:off x="9883140" y="2203704"/>
            <a:ext cx="146304" cy="164592"/>
          </a:xfrm>
          <a:prstGeom prst="rightArrow">
            <a:avLst/>
          </a:prstGeom>
          <a:solidFill>
            <a:srgbClr val="6E6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74" name="Rounded Rectangle 15373"/>
          <p:cNvSpPr/>
          <p:nvPr/>
        </p:nvSpPr>
        <p:spPr>
          <a:xfrm>
            <a:off x="10066020" y="1892807"/>
            <a:ext cx="1711452" cy="786384"/>
          </a:xfrm>
          <a:prstGeom prst="roundRect">
            <a:avLst>
              <a:gd name="adj" fmla="val 6000"/>
            </a:avLst>
          </a:prstGeom>
          <a:solidFill>
            <a:srgbClr val="F0F0FE"/>
          </a:solidFill>
          <a:ln>
            <a:noFill/>
          </a:ln>
          <a:effectLst/>
        </p:spPr>
        <p:txBody>
          <a:bodyPr rtlCol="0" anchor="ctr" wrap="square" tIns="36576" bIns="36576" rIns="54864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6E6CF5"/>
                </a:solidFill>
                <a:latin typeface="Arial"/>
              </a:rPr>
              <a:t>6  </a:t>
            </a:r>
            <a:r>
              <a:rPr sz="1400" b="1" i="0">
                <a:solidFill>
                  <a:srgbClr val="0B0D12"/>
                </a:solidFill>
                <a:latin typeface="Arial"/>
              </a:rPr>
              <a:t>Sign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479"/>
                </a:solidFill>
                <a:latin typeface="Arial"/>
              </a:rPr>
              <a:t>report + s.63 cert</a:t>
            </a:r>
          </a:p>
        </p:txBody>
      </p:sp>
      <p:pic>
        <p:nvPicPr>
          <p:cNvPr id="15375" name="Picture 15374" descr="re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0784" y="2907792"/>
            <a:ext cx="3116687" cy="3017520"/>
          </a:xfrm>
          <a:prstGeom prst="rect">
            <a:avLst/>
          </a:prstGeom>
          <a:ln w="9525">
            <a:solidFill>
              <a:srgbClr val="3B4458"/>
            </a:solidFill>
          </a:ln>
        </p:spPr>
      </p:pic>
      <p:sp>
        <p:nvSpPr>
          <p:cNvPr id="15376" name="TextBox 15375"/>
          <p:cNvSpPr txBox="1"/>
          <p:nvPr/>
        </p:nvSpPr>
        <p:spPr>
          <a:xfrm>
            <a:off x="8660784" y="5980176"/>
            <a:ext cx="311668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5B6479"/>
                </a:solidFill>
                <a:latin typeface="Arial"/>
              </a:rPr>
              <a:t>Review workspace (synthetic case)</a:t>
            </a:r>
          </a:p>
        </p:txBody>
      </p:sp>
      <p:sp>
        <p:nvSpPr>
          <p:cNvPr id="15377" name="Rounded Rectangle 15376"/>
          <p:cNvSpPr/>
          <p:nvPr/>
        </p:nvSpPr>
        <p:spPr>
          <a:xfrm>
            <a:off x="411480" y="2907792"/>
            <a:ext cx="3909768" cy="33101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B7BECC"/>
            </a:solidFill>
          </a:ln>
          <a:effectLst/>
        </p:spPr>
        <p:txBody>
          <a:bodyPr rtlCol="0" anchor="t" wrap="square" tIns="128016" bIns="91440" lIns="146304" rIns="128016"/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00" b="1" i="0">
                <a:solidFill>
                  <a:srgbClr val="6E6CF5"/>
                </a:solidFill>
                <a:latin typeface="Arial"/>
              </a:rPr>
              <a:t>❖ </a:t>
            </a:r>
            <a:r>
              <a:rPr sz="1400" b="1" i="0">
                <a:solidFill>
                  <a:srgbClr val="6E6CF5"/>
                </a:solidFill>
                <a:latin typeface="Arial"/>
              </a:rPr>
              <a:t>How it addresses the problem</a:t>
            </a:r>
          </a:p>
          <a:p>
            <a:pPr algn="l" marL="155448" indent="-155448">
              <a:lnSpc>
                <a:spcPct val="100000"/>
              </a:lnSpc>
              <a:spcAft>
                <a:spcPts val="800"/>
              </a:spcAft>
              <a:buClr>
                <a:srgbClr val="6E6CF5"/>
              </a:buClr>
              <a:buFont typeface="Arial"/>
              <a:buChar char="•"/>
            </a:pPr>
            <a:r>
              <a:rPr sz="1300" b="1" i="0">
                <a:solidFill>
                  <a:srgbClr val="0B0D12"/>
                </a:solidFill>
                <a:latin typeface="Arial"/>
              </a:rPr>
              <a:t>Vendor-agnostic tiers: </a:t>
            </a:r>
            <a:r>
              <a:rPr sz="1300" b="0" i="0">
                <a:solidFill>
                  <a:srgbClr val="1E2330"/>
                </a:solidFill>
                <a:latin typeface="Arial"/>
              </a:rPr>
              <a:t>A parse · B infer layout · C carve</a:t>
            </a:r>
          </a:p>
          <a:p>
            <a:pPr algn="l" marL="155448" indent="-155448">
              <a:lnSpc>
                <a:spcPct val="100000"/>
              </a:lnSpc>
              <a:spcAft>
                <a:spcPts val="800"/>
              </a:spcAft>
              <a:buClr>
                <a:srgbClr val="6E6CF5"/>
              </a:buClr>
              <a:buFont typeface="Arial"/>
              <a:buChar char="•"/>
            </a:pPr>
            <a:r>
              <a:rPr sz="1300" b="1" i="0">
                <a:solidFill>
                  <a:srgbClr val="0B0D12"/>
                </a:solidFill>
                <a:latin typeface="Arial"/>
              </a:rPr>
              <a:t>No vendor player: </a:t>
            </a:r>
            <a:r>
              <a:rPr sz="1300" b="0" i="0">
                <a:solidFill>
                  <a:srgbClr val="1E2330"/>
                </a:solidFill>
                <a:latin typeface="Arial"/>
              </a:rPr>
              <a:t>footage from every OEM in one workspace</a:t>
            </a:r>
          </a:p>
          <a:p>
            <a:pPr algn="l" marL="155448" indent="-155448">
              <a:lnSpc>
                <a:spcPct val="100000"/>
              </a:lnSpc>
              <a:spcAft>
                <a:spcPts val="800"/>
              </a:spcAft>
              <a:buClr>
                <a:srgbClr val="6E6CF5"/>
              </a:buClr>
              <a:buFont typeface="Arial"/>
              <a:buChar char="•"/>
            </a:pPr>
            <a:r>
              <a:rPr sz="1300" b="1" i="0">
                <a:solidFill>
                  <a:srgbClr val="0B0D12"/>
                </a:solidFill>
                <a:latin typeface="Arial"/>
              </a:rPr>
              <a:t>Offline: </a:t>
            </a:r>
            <a:r>
              <a:rPr sz="1300" b="0" i="0">
                <a:solidFill>
                  <a:srgbClr val="1E2330"/>
                </a:solidFill>
                <a:latin typeface="Arial"/>
              </a:rPr>
              <a:t>air-gapped workstation, no telemetry</a:t>
            </a:r>
          </a:p>
          <a:p>
            <a:pPr algn="l" marL="155448" indent="-155448">
              <a:lnSpc>
                <a:spcPct val="100000"/>
              </a:lnSpc>
              <a:spcAft>
                <a:spcPts val="800"/>
              </a:spcAft>
              <a:buClr>
                <a:srgbClr val="6E6CF5"/>
              </a:buClr>
              <a:buFont typeface="Arial"/>
              <a:buChar char="•"/>
            </a:pPr>
            <a:r>
              <a:rPr sz="1300" b="1" i="0">
                <a:solidFill>
                  <a:srgbClr val="0B0D12"/>
                </a:solidFill>
                <a:latin typeface="Arial"/>
              </a:rPr>
              <a:t>Evidence read-only: </a:t>
            </a:r>
            <a:r>
              <a:rPr sz="1300" b="0" i="0">
                <a:solidFill>
                  <a:srgbClr val="1E2330"/>
                </a:solidFill>
                <a:latin typeface="Arial"/>
              </a:rPr>
              <a:t>originals never re-encoded (stream copy)</a:t>
            </a:r>
          </a:p>
          <a:p>
            <a:pPr algn="l" marL="155448" indent="-155448">
              <a:lnSpc>
                <a:spcPct val="100000"/>
              </a:lnSpc>
              <a:spcAft>
                <a:spcPts val="800"/>
              </a:spcAft>
              <a:buClr>
                <a:srgbClr val="6E6CF5"/>
              </a:buClr>
              <a:buFont typeface="Arial"/>
              <a:buChar char="•"/>
            </a:pPr>
            <a:r>
              <a:rPr sz="1300" b="1" i="0">
                <a:solidFill>
                  <a:srgbClr val="0B0D12"/>
                </a:solidFill>
                <a:latin typeface="Arial"/>
              </a:rPr>
              <a:t>Traceable: </a:t>
            </a:r>
            <a:r>
              <a:rPr sz="1300" b="0" i="0">
                <a:solidFill>
                  <a:srgbClr val="1E2330"/>
                </a:solidFill>
                <a:latin typeface="Arial"/>
              </a:rPr>
              <a:t>every finding links back to disk bytes</a:t>
            </a:r>
          </a:p>
        </p:txBody>
      </p:sp>
      <p:sp>
        <p:nvSpPr>
          <p:cNvPr id="15378" name="Rounded Rectangle 15377"/>
          <p:cNvSpPr/>
          <p:nvPr/>
        </p:nvSpPr>
        <p:spPr>
          <a:xfrm>
            <a:off x="4522416" y="2907792"/>
            <a:ext cx="3909768" cy="33101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B7BECC"/>
            </a:solidFill>
          </a:ln>
          <a:effectLst/>
        </p:spPr>
        <p:txBody>
          <a:bodyPr rtlCol="0" anchor="t" wrap="square" tIns="128016" bIns="91440" lIns="146304" rIns="128016"/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1400" b="1" i="0">
                <a:solidFill>
                  <a:srgbClr val="6E6CF5"/>
                </a:solidFill>
                <a:latin typeface="Arial"/>
              </a:rPr>
              <a:t>❖ </a:t>
            </a:r>
            <a:r>
              <a:rPr sz="1400" b="1" i="0">
                <a:solidFill>
                  <a:srgbClr val="6E6CF5"/>
                </a:solidFill>
                <a:latin typeface="Arial"/>
              </a:rPr>
              <a:t>Innovation and uniqueness</a:t>
            </a:r>
          </a:p>
          <a:p>
            <a:pPr algn="l" marL="155448" indent="-155448">
              <a:lnSpc>
                <a:spcPct val="100000"/>
              </a:lnSpc>
              <a:spcAft>
                <a:spcPts val="800"/>
              </a:spcAft>
              <a:buClr>
                <a:srgbClr val="6E6CF5"/>
              </a:buClr>
              <a:buFont typeface="Arial"/>
              <a:buChar char="•"/>
            </a:pPr>
            <a:r>
              <a:rPr sz="1300" b="1" i="0">
                <a:solidFill>
                  <a:srgbClr val="0B0D12"/>
                </a:solidFill>
                <a:latin typeface="Arial"/>
              </a:rPr>
              <a:t>Format inference: </a:t>
            </a:r>
            <a:r>
              <a:rPr sz="1300" b="0" i="0">
                <a:solidFill>
                  <a:srgbClr val="1E2330"/>
                </a:solidFill>
                <a:latin typeface="Arial"/>
              </a:rPr>
              <a:t>undocumented vendors, proven on an unknown synthetic vendor</a:t>
            </a:r>
          </a:p>
          <a:p>
            <a:pPr algn="l" marL="155448" indent="-155448">
              <a:lnSpc>
                <a:spcPct val="100000"/>
              </a:lnSpc>
              <a:spcAft>
                <a:spcPts val="800"/>
              </a:spcAft>
              <a:buClr>
                <a:srgbClr val="6E6CF5"/>
              </a:buClr>
              <a:buFont typeface="Arial"/>
              <a:buChar char="•"/>
            </a:pPr>
            <a:r>
              <a:rPr sz="1300" b="1" i="0">
                <a:solidFill>
                  <a:srgbClr val="0B0D12"/>
                </a:solidFill>
                <a:latin typeface="Arial"/>
              </a:rPr>
              <a:t>Four-clock time: </a:t>
            </a:r>
            <a:r>
              <a:rPr sz="1300" b="0" i="0">
                <a:solidFill>
                  <a:srgbClr val="1E2330"/>
                </a:solidFill>
                <a:latin typeface="Arial"/>
              </a:rPr>
              <a:t>header, index, on-screen OCR, log clock changes</a:t>
            </a:r>
          </a:p>
          <a:p>
            <a:pPr algn="l" marL="155448" indent="-155448">
              <a:lnSpc>
                <a:spcPct val="100000"/>
              </a:lnSpc>
              <a:spcAft>
                <a:spcPts val="800"/>
              </a:spcAft>
              <a:buClr>
                <a:srgbClr val="6E6CF5"/>
              </a:buClr>
              <a:buFont typeface="Arial"/>
              <a:buChar char="•"/>
            </a:pPr>
            <a:r>
              <a:rPr sz="1300" b="1" i="0">
                <a:solidFill>
                  <a:srgbClr val="0B0D12"/>
                </a:solidFill>
                <a:latin typeface="Arial"/>
              </a:rPr>
              <a:t>Deletion verdict: </a:t>
            </a:r>
            <a:r>
              <a:rPr sz="1300" b="0" i="0">
                <a:solidFill>
                  <a:srgbClr val="1E2330"/>
                </a:solidFill>
                <a:latin typeface="Arial"/>
              </a:rPr>
              <a:t>method + actor from device logs</a:t>
            </a:r>
          </a:p>
          <a:p>
            <a:pPr algn="l" marL="155448" indent="-155448">
              <a:lnSpc>
                <a:spcPct val="100000"/>
              </a:lnSpc>
              <a:spcAft>
                <a:spcPts val="800"/>
              </a:spcAft>
              <a:buClr>
                <a:srgbClr val="6E6CF5"/>
              </a:buClr>
              <a:buFont typeface="Arial"/>
              <a:buChar char="•"/>
            </a:pPr>
            <a:r>
              <a:rPr sz="1300" b="1" i="0">
                <a:solidFill>
                  <a:srgbClr val="0B0D12"/>
                </a:solidFill>
                <a:latin typeface="Arial"/>
              </a:rPr>
              <a:t>Custody: </a:t>
            </a:r>
            <a:r>
              <a:rPr sz="1300" b="0" i="0">
                <a:solidFill>
                  <a:srgbClr val="1E2330"/>
                </a:solidFill>
                <a:latin typeface="Arial"/>
              </a:rPr>
              <a:t>Ed25519 hash chain + Merkle-anchored case root</a:t>
            </a:r>
          </a:p>
          <a:p>
            <a:pPr algn="l" marL="155448" indent="-155448">
              <a:lnSpc>
                <a:spcPct val="100000"/>
              </a:lnSpc>
              <a:spcAft>
                <a:spcPts val="800"/>
              </a:spcAft>
              <a:buClr>
                <a:srgbClr val="6E6CF5"/>
              </a:buClr>
              <a:buFont typeface="Arial"/>
              <a:buChar char="•"/>
            </a:pPr>
            <a:r>
              <a:rPr sz="1300" b="1" i="0">
                <a:solidFill>
                  <a:srgbClr val="0B0D12"/>
                </a:solidFill>
                <a:latin typeface="Arial"/>
              </a:rPr>
              <a:t>Prove it: </a:t>
            </a:r>
            <a:r>
              <a:rPr sz="1300" b="0" i="0">
                <a:solidFill>
                  <a:srgbClr val="1E2330"/>
                </a:solidFill>
                <a:latin typeface="Arial"/>
              </a:rPr>
              <a:t>any frame → its disk sectors + live SHA-256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11480" y="1115568"/>
            <a:ext cx="11365992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0D12"/>
                </a:solidFill>
                <a:latin typeface="Arial"/>
              </a:rPr>
              <a:t>A deterministic Rust + Python forensic core; the LLM stays outside the evidence path.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/>
          <a:lstStyle/>
          <a:p>
            <a:pPr algn="ctr"/>
            <a:r>
              <a:rPr lang="en-US" dirty="0" sz="1200"/>
              <a:t>&lt;TEAM_NAME&gt;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411480" y="1572768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E6CF5"/>
                </a:solidFill>
                <a:latin typeface="Arial"/>
              </a:rPr>
              <a:t>❖ </a:t>
            </a:r>
            <a:r>
              <a:rPr sz="1400" b="1" i="0">
                <a:solidFill>
                  <a:srgbClr val="6E6CF5"/>
                </a:solidFill>
                <a:latin typeface="Arial"/>
              </a:rPr>
              <a:t>Technologies to be used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11480" y="1892807"/>
            <a:ext cx="2093976" cy="329184"/>
          </a:xfrm>
          <a:prstGeom prst="roundRect">
            <a:avLst>
              <a:gd name="adj" fmla="val 6000"/>
            </a:avLst>
          </a:prstGeom>
          <a:solidFill>
            <a:srgbClr val="F0F0FE"/>
          </a:solidFill>
          <a:ln>
            <a:noFill/>
          </a:ln>
          <a:effectLst/>
        </p:spPr>
        <p:txBody>
          <a:bodyPr rtlCol="0" anchor="ctr" wrap="square" tIns="0" bIns="0" lIns="109728" rIns="54864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0D12"/>
                </a:solidFill>
                <a:latin typeface="Arial"/>
              </a:rPr>
              <a:t>Rust scanner </a:t>
            </a:r>
            <a:r>
              <a:rPr sz="1200" b="0" i="0">
                <a:solidFill>
                  <a:srgbClr val="5B6479"/>
                </a:solidFill>
                <a:latin typeface="Arial"/>
              </a:rPr>
              <a:t>PyO3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2615184" y="1892807"/>
            <a:ext cx="2093976" cy="329184"/>
          </a:xfrm>
          <a:prstGeom prst="roundRect">
            <a:avLst>
              <a:gd name="adj" fmla="val 6000"/>
            </a:avLst>
          </a:prstGeom>
          <a:solidFill>
            <a:srgbClr val="F0F0FE"/>
          </a:solidFill>
          <a:ln>
            <a:noFill/>
          </a:ln>
          <a:effectLst/>
        </p:spPr>
        <p:txBody>
          <a:bodyPr rtlCol="0" anchor="ctr" wrap="square" tIns="0" bIns="0" lIns="109728" rIns="54864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0D12"/>
                </a:solidFill>
                <a:latin typeface="Arial"/>
              </a:rPr>
              <a:t>Python 3.11 </a:t>
            </a:r>
            <a:r>
              <a:rPr sz="1200" b="0" i="0">
                <a:solidFill>
                  <a:srgbClr val="5B6479"/>
                </a:solidFill>
                <a:latin typeface="Arial"/>
              </a:rPr>
              <a:t>core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11480" y="2286000"/>
            <a:ext cx="2093976" cy="329184"/>
          </a:xfrm>
          <a:prstGeom prst="roundRect">
            <a:avLst>
              <a:gd name="adj" fmla="val 6000"/>
            </a:avLst>
          </a:prstGeom>
          <a:solidFill>
            <a:srgbClr val="F0F0FE"/>
          </a:solidFill>
          <a:ln>
            <a:noFill/>
          </a:ln>
          <a:effectLst/>
        </p:spPr>
        <p:txBody>
          <a:bodyPr rtlCol="0" anchor="ctr" wrap="square" tIns="0" bIns="0" lIns="109728" rIns="54864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0D12"/>
                </a:solidFill>
                <a:latin typeface="Arial"/>
              </a:rPr>
              <a:t>Kaitai </a:t>
            </a:r>
            <a:r>
              <a:rPr sz="1200" b="0" i="0">
                <a:solidFill>
                  <a:srgbClr val="5B6479"/>
                </a:solidFill>
                <a:latin typeface="Arial"/>
              </a:rPr>
              <a:t>.ksy specs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2615184" y="2286000"/>
            <a:ext cx="2093976" cy="329184"/>
          </a:xfrm>
          <a:prstGeom prst="roundRect">
            <a:avLst>
              <a:gd name="adj" fmla="val 6000"/>
            </a:avLst>
          </a:prstGeom>
          <a:solidFill>
            <a:srgbClr val="F0F0FE"/>
          </a:solidFill>
          <a:ln>
            <a:noFill/>
          </a:ln>
          <a:effectLst/>
        </p:spPr>
        <p:txBody>
          <a:bodyPr rtlCol="0" anchor="ctr" wrap="square" tIns="0" bIns="0" lIns="109728" rIns="54864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0D12"/>
                </a:solidFill>
                <a:latin typeface="Arial"/>
              </a:rPr>
              <a:t>FFmpeg </a:t>
            </a:r>
            <a:r>
              <a:rPr sz="1200" b="0" i="0">
                <a:solidFill>
                  <a:srgbClr val="5B6479"/>
                </a:solidFill>
                <a:latin typeface="Arial"/>
              </a:rPr>
              <a:t>stream copy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411480" y="2679191"/>
            <a:ext cx="2093976" cy="329184"/>
          </a:xfrm>
          <a:prstGeom prst="roundRect">
            <a:avLst>
              <a:gd name="adj" fmla="val 6000"/>
            </a:avLst>
          </a:prstGeom>
          <a:solidFill>
            <a:srgbClr val="F0F0FE"/>
          </a:solidFill>
          <a:ln>
            <a:noFill/>
          </a:ln>
          <a:effectLst/>
        </p:spPr>
        <p:txBody>
          <a:bodyPr rtlCol="0" anchor="ctr" wrap="square" tIns="0" bIns="0" lIns="109728" rIns="54864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0D12"/>
                </a:solidFill>
                <a:latin typeface="Arial"/>
              </a:rPr>
              <a:t>DuckDB </a:t>
            </a:r>
            <a:r>
              <a:rPr sz="1200" b="0" i="0">
                <a:solidFill>
                  <a:srgbClr val="5B6479"/>
                </a:solidFill>
                <a:latin typeface="Arial"/>
              </a:rPr>
              <a:t>+ Parquet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2615184" y="2679191"/>
            <a:ext cx="2093976" cy="329184"/>
          </a:xfrm>
          <a:prstGeom prst="roundRect">
            <a:avLst>
              <a:gd name="adj" fmla="val 6000"/>
            </a:avLst>
          </a:prstGeom>
          <a:solidFill>
            <a:srgbClr val="F0F0FE"/>
          </a:solidFill>
          <a:ln>
            <a:noFill/>
          </a:ln>
          <a:effectLst/>
        </p:spPr>
        <p:txBody>
          <a:bodyPr rtlCol="0" anchor="ctr" wrap="square" tIns="0" bIns="0" lIns="109728" rIns="54864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0D12"/>
                </a:solidFill>
                <a:latin typeface="Arial"/>
              </a:rPr>
              <a:t>FastAPI </a:t>
            </a:r>
            <a:r>
              <a:rPr sz="1200" b="0" i="0">
                <a:solidFill>
                  <a:srgbClr val="5B6479"/>
                </a:solidFill>
                <a:latin typeface="Arial"/>
              </a:rPr>
              <a:t>+ workers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411480" y="3072384"/>
            <a:ext cx="2093976" cy="329184"/>
          </a:xfrm>
          <a:prstGeom prst="roundRect">
            <a:avLst>
              <a:gd name="adj" fmla="val 6000"/>
            </a:avLst>
          </a:prstGeom>
          <a:solidFill>
            <a:srgbClr val="F0F0FE"/>
          </a:solidFill>
          <a:ln>
            <a:noFill/>
          </a:ln>
          <a:effectLst/>
        </p:spPr>
        <p:txBody>
          <a:bodyPr rtlCol="0" anchor="ctr" wrap="square" tIns="0" bIns="0" lIns="109728" rIns="54864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0D12"/>
                </a:solidFill>
                <a:latin typeface="Arial"/>
              </a:rPr>
              <a:t>React </a:t>
            </a:r>
            <a:r>
              <a:rPr sz="1200" b="0" i="0">
                <a:solidFill>
                  <a:srgbClr val="5B6479"/>
                </a:solidFill>
                <a:latin typeface="Arial"/>
              </a:rPr>
              <a:t>+ TypeScript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2615184" y="3072384"/>
            <a:ext cx="2093976" cy="329184"/>
          </a:xfrm>
          <a:prstGeom prst="roundRect">
            <a:avLst>
              <a:gd name="adj" fmla="val 6000"/>
            </a:avLst>
          </a:prstGeom>
          <a:solidFill>
            <a:srgbClr val="F0F0FE"/>
          </a:solidFill>
          <a:ln>
            <a:noFill/>
          </a:ln>
          <a:effectLst/>
        </p:spPr>
        <p:txBody>
          <a:bodyPr rtlCol="0" anchor="ctr" wrap="square" tIns="0" bIns="0" lIns="109728" rIns="54864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0D12"/>
                </a:solidFill>
                <a:latin typeface="Arial"/>
              </a:rPr>
              <a:t>PaddleOCR </a:t>
            </a:r>
            <a:r>
              <a:rPr sz="1200" b="0" i="0">
                <a:solidFill>
                  <a:srgbClr val="5B6479"/>
                </a:solidFill>
                <a:latin typeface="Arial"/>
              </a:rPr>
              <a:t>/ ONNX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411480" y="3465576"/>
            <a:ext cx="2093976" cy="329184"/>
          </a:xfrm>
          <a:prstGeom prst="roundRect">
            <a:avLst>
              <a:gd name="adj" fmla="val 6000"/>
            </a:avLst>
          </a:prstGeom>
          <a:solidFill>
            <a:srgbClr val="F0F0FE"/>
          </a:solidFill>
          <a:ln>
            <a:noFill/>
          </a:ln>
          <a:effectLst/>
        </p:spPr>
        <p:txBody>
          <a:bodyPr rtlCol="0" anchor="ctr" wrap="square" tIns="0" bIns="0" lIns="109728" rIns="54864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0D12"/>
                </a:solidFill>
                <a:latin typeface="Arial"/>
              </a:rPr>
              <a:t>Ed25519 </a:t>
            </a:r>
            <a:r>
              <a:rPr sz="1200" b="0" i="0">
                <a:solidFill>
                  <a:srgbClr val="5B6479"/>
                </a:solidFill>
                <a:latin typeface="Arial"/>
              </a:rPr>
              <a:t>+ Merkle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2615184" y="3465576"/>
            <a:ext cx="2093976" cy="329184"/>
          </a:xfrm>
          <a:prstGeom prst="roundRect">
            <a:avLst>
              <a:gd name="adj" fmla="val 6000"/>
            </a:avLst>
          </a:prstGeom>
          <a:solidFill>
            <a:srgbClr val="F0F0FE"/>
          </a:solidFill>
          <a:ln>
            <a:noFill/>
          </a:ln>
          <a:effectLst/>
        </p:spPr>
        <p:txBody>
          <a:bodyPr rtlCol="0" anchor="ctr" wrap="square" tIns="0" bIns="0" lIns="109728" rIns="54864"/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0D12"/>
                </a:solidFill>
                <a:latin typeface="Arial"/>
              </a:rPr>
              <a:t>Claude API </a:t>
            </a:r>
            <a:r>
              <a:rPr sz="1200" b="0" i="0">
                <a:solidFill>
                  <a:srgbClr val="5B6479"/>
                </a:solidFill>
                <a:latin typeface="Arial"/>
              </a:rPr>
              <a:t>drafts only</a:t>
            </a:r>
          </a:p>
        </p:txBody>
      </p:sp>
      <p:pic>
        <p:nvPicPr>
          <p:cNvPr id="17422" name="Picture 17421" descr="prove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959351"/>
            <a:ext cx="4297680" cy="1990200"/>
          </a:xfrm>
          <a:prstGeom prst="rect">
            <a:avLst/>
          </a:prstGeom>
          <a:ln w="9525">
            <a:solidFill>
              <a:srgbClr val="3B4458"/>
            </a:solidFill>
          </a:ln>
        </p:spPr>
      </p:pic>
      <p:sp>
        <p:nvSpPr>
          <p:cNvPr id="17423" name="TextBox 17422"/>
          <p:cNvSpPr txBox="1"/>
          <p:nvPr/>
        </p:nvSpPr>
        <p:spPr>
          <a:xfrm>
            <a:off x="411480" y="6004416"/>
            <a:ext cx="4297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5B6479"/>
                </a:solidFill>
                <a:latin typeface="Arial"/>
              </a:rPr>
              <a:t>Prove it: a recovered frame's exact disk bytes, rehashed live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4983480" y="1572768"/>
            <a:ext cx="67939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E6CF5"/>
                </a:solidFill>
                <a:latin typeface="Arial"/>
              </a:rPr>
              <a:t>❖ </a:t>
            </a:r>
            <a:r>
              <a:rPr sz="1400" b="1" i="0">
                <a:solidFill>
                  <a:srgbClr val="6E6CF5"/>
                </a:solidFill>
                <a:latin typeface="Arial"/>
              </a:rPr>
              <a:t>Methodology and process for implementation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4983480" y="1892807"/>
            <a:ext cx="6793992" cy="3127248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6E6CF5"/>
            </a:solidFill>
            <a:prstDash val="dash"/>
          </a:ln>
          <a:effectLst/>
        </p:spPr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7426" name="TextBox 17425"/>
          <p:cNvSpPr txBox="1"/>
          <p:nvPr/>
        </p:nvSpPr>
        <p:spPr>
          <a:xfrm>
            <a:off x="5111496" y="1956816"/>
            <a:ext cx="651967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5B6479"/>
                </a:solidFill>
                <a:latin typeface="Arial"/>
              </a:rPr>
              <a:t>Evidence path: one-way, read-only, deterministic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5093208" y="2249424"/>
            <a:ext cx="1183233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6E6CF5"/>
            </a:solidFill>
          </a:ln>
          <a:effectLst/>
        </p:spPr>
        <p:txBody>
          <a:bodyPr rtlCol="0" anchor="t" wrap="square" tIns="420624" bIns="36576" lIns="73152" rIns="27432"/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0" i="0">
                <a:solidFill>
                  <a:srgbClr val="0B0D12"/>
                </a:solidFill>
                <a:latin typeface="Arial"/>
              </a:rPr>
              <a:t>DVR/NVR disk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0" i="0">
                <a:solidFill>
                  <a:srgbClr val="0B0D12"/>
                </a:solidFill>
                <a:latin typeface="Arial"/>
              </a:rPr>
              <a:t>Write-blocker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0" i="0">
                <a:solidFill>
                  <a:srgbClr val="0B0D12"/>
                </a:solidFill>
                <a:latin typeface="Arial"/>
              </a:rPr>
              <a:t>E01 / raw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5093208" y="2249424"/>
            <a:ext cx="1183233" cy="329184"/>
          </a:xfrm>
          <a:prstGeom prst="roundRect">
            <a:avLst>
              <a:gd name="adj" fmla="val 12000"/>
            </a:avLst>
          </a:prstGeom>
          <a:solidFill>
            <a:srgbClr val="6E6CF5"/>
          </a:solidFill>
          <a:ln>
            <a:noFill/>
          </a:ln>
          <a:effectLst/>
        </p:spPr>
        <p:txBody>
          <a:bodyPr rtlCol="0" anchor="ctr" wrap="square" tIns="0" bIns="0" lIns="18288" rIns="18288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Sources</a:t>
            </a:r>
          </a:p>
        </p:txBody>
      </p:sp>
      <p:sp>
        <p:nvSpPr>
          <p:cNvPr id="17429" name="Right Arrow 17428"/>
          <p:cNvSpPr/>
          <p:nvPr/>
        </p:nvSpPr>
        <p:spPr>
          <a:xfrm>
            <a:off x="6294729" y="3044952"/>
            <a:ext cx="128016" cy="164592"/>
          </a:xfrm>
          <a:prstGeom prst="rightArrow">
            <a:avLst/>
          </a:prstGeom>
          <a:solidFill>
            <a:srgbClr val="6E6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7430" name="Connector 17429"/>
          <p:cNvCxnSpPr/>
          <p:nvPr/>
        </p:nvCxnSpPr>
        <p:spPr>
          <a:xfrm>
            <a:off x="5684824" y="4005072"/>
            <a:ext cx="0" cy="219456"/>
          </a:xfrm>
          <a:prstGeom prst="line">
            <a:avLst/>
          </a:prstGeom>
          <a:ln w="12700">
            <a:solidFill>
              <a:srgbClr val="6E6CF5"/>
            </a:solidFill>
            <a:prstDash val="dash"/>
          </a:ln>
        </p:spPr>
      </p:cxnSp>
      <p:sp>
        <p:nvSpPr>
          <p:cNvPr id="17431" name="Rounded Rectangle 17430"/>
          <p:cNvSpPr/>
          <p:nvPr/>
        </p:nvSpPr>
        <p:spPr>
          <a:xfrm>
            <a:off x="6441033" y="2249424"/>
            <a:ext cx="1183233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6E6CF5"/>
            </a:solidFill>
          </a:ln>
          <a:effectLst/>
        </p:spPr>
        <p:txBody>
          <a:bodyPr rtlCol="0" anchor="t" wrap="square" tIns="420624" bIns="36576" lIns="73152" rIns="27432"/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0" i="0">
                <a:solidFill>
                  <a:srgbClr val="0B0D12"/>
                </a:solidFill>
                <a:latin typeface="Arial"/>
              </a:rPr>
              <a:t>Read-only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0" i="0">
                <a:solidFill>
                  <a:srgbClr val="0B0D12"/>
                </a:solidFill>
                <a:latin typeface="Arial"/>
              </a:rPr>
              <a:t>SHA-256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0" i="0">
                <a:solidFill>
                  <a:srgbClr val="0B0D12"/>
                </a:solidFill>
                <a:latin typeface="Arial"/>
              </a:rPr>
              <a:t>+ MD5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0" i="0">
                <a:solidFill>
                  <a:srgbClr val="0B0D12"/>
                </a:solidFill>
                <a:latin typeface="Arial"/>
              </a:rPr>
              <a:t>Re-verify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6441033" y="2249424"/>
            <a:ext cx="1183233" cy="329184"/>
          </a:xfrm>
          <a:prstGeom prst="roundRect">
            <a:avLst>
              <a:gd name="adj" fmla="val 12000"/>
            </a:avLst>
          </a:prstGeom>
          <a:solidFill>
            <a:srgbClr val="6E6CF5"/>
          </a:solidFill>
          <a:ln>
            <a:noFill/>
          </a:ln>
          <a:effectLst/>
        </p:spPr>
        <p:txBody>
          <a:bodyPr rtlCol="0" anchor="ctr" wrap="square" tIns="0" bIns="0" lIns="18288" rIns="18288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Acquire</a:t>
            </a:r>
          </a:p>
        </p:txBody>
      </p:sp>
      <p:sp>
        <p:nvSpPr>
          <p:cNvPr id="17433" name="Right Arrow 17432"/>
          <p:cNvSpPr/>
          <p:nvPr/>
        </p:nvSpPr>
        <p:spPr>
          <a:xfrm>
            <a:off x="7642555" y="3044952"/>
            <a:ext cx="128016" cy="164592"/>
          </a:xfrm>
          <a:prstGeom prst="rightArrow">
            <a:avLst/>
          </a:prstGeom>
          <a:solidFill>
            <a:srgbClr val="6E6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7434" name="Connector 17433"/>
          <p:cNvCxnSpPr/>
          <p:nvPr/>
        </p:nvCxnSpPr>
        <p:spPr>
          <a:xfrm>
            <a:off x="7032650" y="4005072"/>
            <a:ext cx="0" cy="219456"/>
          </a:xfrm>
          <a:prstGeom prst="line">
            <a:avLst/>
          </a:prstGeom>
          <a:ln w="12700">
            <a:solidFill>
              <a:srgbClr val="6E6CF5"/>
            </a:solidFill>
            <a:prstDash val="dash"/>
          </a:ln>
        </p:spPr>
      </p:cxnSp>
      <p:sp>
        <p:nvSpPr>
          <p:cNvPr id="17435" name="Rounded Rectangle 17434"/>
          <p:cNvSpPr/>
          <p:nvPr/>
        </p:nvSpPr>
        <p:spPr>
          <a:xfrm>
            <a:off x="7788859" y="2249424"/>
            <a:ext cx="1183233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6E6CF5"/>
            </a:solidFill>
          </a:ln>
          <a:effectLst/>
        </p:spPr>
        <p:txBody>
          <a:bodyPr rtlCol="0" anchor="t" wrap="square" tIns="420624" bIns="36576" lIns="73152" rIns="27432"/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0" i="0">
                <a:solidFill>
                  <a:srgbClr val="0B0D12"/>
                </a:solidFill>
                <a:latin typeface="Arial"/>
              </a:rPr>
              <a:t>Identify OEM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0" i="0">
                <a:solidFill>
                  <a:srgbClr val="0B0D12"/>
                </a:solidFill>
                <a:latin typeface="Arial"/>
              </a:rPr>
              <a:t>A: parse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0" i="0">
                <a:solidFill>
                  <a:srgbClr val="0B0D12"/>
                </a:solidFill>
                <a:latin typeface="Arial"/>
              </a:rPr>
              <a:t>B: infer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0" i="0">
                <a:solidFill>
                  <a:srgbClr val="0B0D12"/>
                </a:solidFill>
                <a:latin typeface="Arial"/>
              </a:rPr>
              <a:t>C: carve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0" i="0">
                <a:solidFill>
                  <a:srgbClr val="0B0D12"/>
                </a:solidFill>
                <a:latin typeface="Arial"/>
              </a:rPr>
              <a:t>Device logs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7788859" y="2249424"/>
            <a:ext cx="1183233" cy="329184"/>
          </a:xfrm>
          <a:prstGeom prst="roundRect">
            <a:avLst>
              <a:gd name="adj" fmla="val 12000"/>
            </a:avLst>
          </a:prstGeom>
          <a:solidFill>
            <a:srgbClr val="6E6CF5"/>
          </a:solidFill>
          <a:ln>
            <a:noFill/>
          </a:ln>
          <a:effectLst/>
        </p:spPr>
        <p:txBody>
          <a:bodyPr rtlCol="0" anchor="ctr" wrap="square" tIns="0" bIns="0" lIns="18288" rIns="18288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Core</a:t>
            </a:r>
          </a:p>
        </p:txBody>
      </p:sp>
      <p:sp>
        <p:nvSpPr>
          <p:cNvPr id="17437" name="Right Arrow 17436"/>
          <p:cNvSpPr/>
          <p:nvPr/>
        </p:nvSpPr>
        <p:spPr>
          <a:xfrm>
            <a:off x="8990380" y="3044952"/>
            <a:ext cx="128016" cy="164592"/>
          </a:xfrm>
          <a:prstGeom prst="rightArrow">
            <a:avLst/>
          </a:prstGeom>
          <a:solidFill>
            <a:srgbClr val="6E6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7438" name="Connector 17437"/>
          <p:cNvCxnSpPr/>
          <p:nvPr/>
        </p:nvCxnSpPr>
        <p:spPr>
          <a:xfrm>
            <a:off x="8380476" y="4005072"/>
            <a:ext cx="0" cy="219456"/>
          </a:xfrm>
          <a:prstGeom prst="line">
            <a:avLst/>
          </a:prstGeom>
          <a:ln w="12700">
            <a:solidFill>
              <a:srgbClr val="6E6CF5"/>
            </a:solidFill>
            <a:prstDash val="dash"/>
          </a:ln>
        </p:spPr>
      </p:cxnSp>
      <p:sp>
        <p:nvSpPr>
          <p:cNvPr id="17439" name="Rounded Rectangle 17438"/>
          <p:cNvSpPr/>
          <p:nvPr/>
        </p:nvSpPr>
        <p:spPr>
          <a:xfrm>
            <a:off x="9136684" y="2249424"/>
            <a:ext cx="1183233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6E6CF5"/>
            </a:solidFill>
          </a:ln>
          <a:effectLst/>
        </p:spPr>
        <p:txBody>
          <a:bodyPr rtlCol="0" anchor="t" wrap="square" tIns="420624" bIns="36576" lIns="73152" rIns="27432"/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0" i="0">
                <a:solidFill>
                  <a:srgbClr val="0B0D12"/>
                </a:solidFill>
                <a:latin typeface="Arial"/>
              </a:rPr>
              <a:t>Four-clock time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0" i="0">
                <a:solidFill>
                  <a:srgbClr val="0B0D12"/>
                </a:solidFill>
                <a:latin typeface="Arial"/>
              </a:rPr>
              <a:t>Deletion verdict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0" i="0">
                <a:solidFill>
                  <a:srgbClr val="0B0D12"/>
                </a:solidFill>
                <a:latin typeface="Arial"/>
              </a:rPr>
              <a:t>Motion triage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9136684" y="2249424"/>
            <a:ext cx="1183233" cy="329184"/>
          </a:xfrm>
          <a:prstGeom prst="roundRect">
            <a:avLst>
              <a:gd name="adj" fmla="val 12000"/>
            </a:avLst>
          </a:prstGeom>
          <a:solidFill>
            <a:srgbClr val="6E6CF5"/>
          </a:solidFill>
          <a:ln>
            <a:noFill/>
          </a:ln>
          <a:effectLst/>
        </p:spPr>
        <p:txBody>
          <a:bodyPr rtlCol="0" anchor="ctr" wrap="square" tIns="0" bIns="0" lIns="18288" rIns="18288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Analyse</a:t>
            </a:r>
          </a:p>
        </p:txBody>
      </p:sp>
      <p:sp>
        <p:nvSpPr>
          <p:cNvPr id="17441" name="Right Arrow 17440"/>
          <p:cNvSpPr/>
          <p:nvPr/>
        </p:nvSpPr>
        <p:spPr>
          <a:xfrm>
            <a:off x="10338206" y="3044952"/>
            <a:ext cx="128016" cy="164592"/>
          </a:xfrm>
          <a:prstGeom prst="rightArrow">
            <a:avLst/>
          </a:prstGeom>
          <a:solidFill>
            <a:srgbClr val="6E6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7442" name="Connector 17441"/>
          <p:cNvCxnSpPr/>
          <p:nvPr/>
        </p:nvCxnSpPr>
        <p:spPr>
          <a:xfrm>
            <a:off x="9728301" y="4005072"/>
            <a:ext cx="0" cy="219456"/>
          </a:xfrm>
          <a:prstGeom prst="line">
            <a:avLst/>
          </a:prstGeom>
          <a:ln w="12700">
            <a:solidFill>
              <a:srgbClr val="6E6CF5"/>
            </a:solidFill>
            <a:prstDash val="dash"/>
          </a:ln>
        </p:spPr>
      </p:cxnSp>
      <p:sp>
        <p:nvSpPr>
          <p:cNvPr id="17443" name="Rounded Rectangle 17442"/>
          <p:cNvSpPr/>
          <p:nvPr/>
        </p:nvSpPr>
        <p:spPr>
          <a:xfrm>
            <a:off x="10484510" y="2249424"/>
            <a:ext cx="1183233" cy="17556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6E6CF5"/>
            </a:solidFill>
          </a:ln>
          <a:effectLst/>
        </p:spPr>
        <p:txBody>
          <a:bodyPr rtlCol="0" anchor="t" wrap="square" tIns="420624" bIns="36576" lIns="73152" rIns="27432"/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0" i="0">
                <a:solidFill>
                  <a:srgbClr val="0B0D12"/>
                </a:solidFill>
                <a:latin typeface="Arial"/>
              </a:rPr>
              <a:t>Signed PDF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0" i="0">
                <a:solidFill>
                  <a:srgbClr val="0B0D12"/>
                </a:solidFill>
                <a:latin typeface="Arial"/>
              </a:rPr>
              <a:t>s.63 certificate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0" i="0">
                <a:solidFill>
                  <a:srgbClr val="0B0D12"/>
                </a:solidFill>
                <a:latin typeface="Arial"/>
              </a:rPr>
              <a:t>Signed MP4</a:t>
            </a:r>
          </a:p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200" b="0" i="0">
                <a:solidFill>
                  <a:srgbClr val="0B0D12"/>
                </a:solidFill>
                <a:latin typeface="Arial"/>
              </a:rPr>
              <a:t>Prove-it hex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10484510" y="2249424"/>
            <a:ext cx="1183233" cy="329184"/>
          </a:xfrm>
          <a:prstGeom prst="roundRect">
            <a:avLst>
              <a:gd name="adj" fmla="val 12000"/>
            </a:avLst>
          </a:prstGeom>
          <a:solidFill>
            <a:srgbClr val="6E6CF5"/>
          </a:solidFill>
          <a:ln>
            <a:noFill/>
          </a:ln>
          <a:effectLst/>
        </p:spPr>
        <p:txBody>
          <a:bodyPr rtlCol="0" anchor="ctr" wrap="square" tIns="0" bIns="0" lIns="18288" rIns="18288"/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Output</a:t>
            </a:r>
          </a:p>
        </p:txBody>
      </p:sp>
      <p:cxnSp>
        <p:nvCxnSpPr>
          <p:cNvPr id="17445" name="Connector 17444"/>
          <p:cNvCxnSpPr/>
          <p:nvPr/>
        </p:nvCxnSpPr>
        <p:spPr>
          <a:xfrm>
            <a:off x="11076127" y="4005072"/>
            <a:ext cx="0" cy="219456"/>
          </a:xfrm>
          <a:prstGeom prst="line">
            <a:avLst/>
          </a:prstGeom>
          <a:ln w="12700">
            <a:solidFill>
              <a:srgbClr val="6E6CF5"/>
            </a:solidFill>
            <a:prstDash val="dash"/>
          </a:ln>
        </p:spPr>
      </p:cxnSp>
      <p:sp>
        <p:nvSpPr>
          <p:cNvPr id="17446" name="Rounded Rectangle 17445"/>
          <p:cNvSpPr/>
          <p:nvPr/>
        </p:nvSpPr>
        <p:spPr>
          <a:xfrm>
            <a:off x="5093208" y="4224528"/>
            <a:ext cx="6574536" cy="676656"/>
          </a:xfrm>
          <a:prstGeom prst="roundRect">
            <a:avLst>
              <a:gd name="adj" fmla="val 8000"/>
            </a:avLst>
          </a:prstGeom>
          <a:solidFill>
            <a:srgbClr val="F0F0FE"/>
          </a:solidFill>
          <a:ln w="12700">
            <a:solidFill>
              <a:srgbClr val="6E6CF5"/>
            </a:solidFill>
          </a:ln>
          <a:effectLst/>
        </p:spPr>
        <p:txBody>
          <a:bodyPr rtlCol="0" anchor="ctr" wrap="square" tIns="36576" bIns="36576" lIns="128016" rIns="109728"/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E6CF5"/>
                </a:solidFill>
                <a:latin typeface="Arial"/>
              </a:rPr>
              <a:t>Custody, alongside every hop:  </a:t>
            </a:r>
            <a:r>
              <a:rPr sz="1200" b="0" i="0">
                <a:solidFill>
                  <a:srgbClr val="0B0D12"/>
                </a:solidFill>
                <a:latin typeface="Arial"/>
              </a:rPr>
              <a:t>Ed25519-signed, hash-chained audit log → case Merkle root anchor (local ledger today; Fabric next)</a:t>
            </a:r>
          </a:p>
        </p:txBody>
      </p:sp>
      <p:cxnSp>
        <p:nvCxnSpPr>
          <p:cNvPr id="17447" name="Connector 17446"/>
          <p:cNvCxnSpPr/>
          <p:nvPr/>
        </p:nvCxnSpPr>
        <p:spPr>
          <a:xfrm>
            <a:off x="10268712" y="5020056"/>
            <a:ext cx="0" cy="210312"/>
          </a:xfrm>
          <a:prstGeom prst="line">
            <a:avLst/>
          </a:prstGeom>
          <a:ln w="12700">
            <a:solidFill>
              <a:srgbClr val="6E6CF5"/>
            </a:solidFill>
            <a:prstDash val="dash"/>
          </a:ln>
        </p:spPr>
      </p:cxnSp>
      <p:sp>
        <p:nvSpPr>
          <p:cNvPr id="17448" name="Rounded Rectangle 17447"/>
          <p:cNvSpPr/>
          <p:nvPr/>
        </p:nvSpPr>
        <p:spPr>
          <a:xfrm>
            <a:off x="8759952" y="5230368"/>
            <a:ext cx="3017520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6E6CF5"/>
            </a:solidFill>
            <a:prstDash val="dash"/>
          </a:ln>
          <a:effectLst/>
        </p:spPr>
        <p:txBody>
          <a:bodyPr rtlCol="0" anchor="ctr" wrap="square" tIns="36576" bIns="36576" lIns="109728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 i="0">
                <a:solidFill>
                  <a:srgbClr val="0B0D12"/>
                </a:solidFill>
                <a:latin typeface="Arial"/>
              </a:rPr>
              <a:t>Claude API (optional, off by default)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479"/>
                </a:solidFill>
                <a:latin typeface="Arial"/>
              </a:rPr>
              <a:t>Structured metadata only; output is a labelled draft, never a finding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4983480" y="5248656"/>
            <a:ext cx="3547872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00000"/>
              </a:lnSpc>
              <a:spcAft>
                <a:spcPts val="500"/>
              </a:spcAft>
              <a:buClr>
                <a:srgbClr val="6E6CF5"/>
              </a:buClr>
              <a:buFont typeface="Arial"/>
              <a:buChar char="•"/>
            </a:pPr>
            <a:r>
              <a:rPr sz="1200" b="0" i="0">
                <a:solidFill>
                  <a:srgbClr val="1E2330"/>
                </a:solidFill>
                <a:latin typeface="Arial"/>
              </a:rPr>
              <a:t>LLM never sees frames or disk bytes</a:t>
            </a:r>
          </a:p>
          <a:p>
            <a:pPr algn="l" marL="155448" indent="-155448">
              <a:lnSpc>
                <a:spcPct val="100000"/>
              </a:lnSpc>
              <a:spcAft>
                <a:spcPts val="500"/>
              </a:spcAft>
              <a:buClr>
                <a:srgbClr val="6E6CF5"/>
              </a:buClr>
              <a:buFont typeface="Arial"/>
              <a:buChar char="•"/>
            </a:pPr>
            <a:r>
              <a:rPr sz="1200" b="0" i="0">
                <a:solidFill>
                  <a:srgbClr val="1E2330"/>
                </a:solidFill>
                <a:latin typeface="Arial"/>
              </a:rPr>
              <a:t>Same input + version → identical outputs</a:t>
            </a:r>
          </a:p>
          <a:p>
            <a:pPr algn="l" marL="155448" indent="-155448">
              <a:lnSpc>
                <a:spcPct val="100000"/>
              </a:lnSpc>
              <a:spcAft>
                <a:spcPts val="500"/>
              </a:spcAft>
              <a:buClr>
                <a:srgbClr val="6E6CF5"/>
              </a:buClr>
              <a:buFont typeface="Arial"/>
              <a:buChar char="•"/>
            </a:pPr>
            <a:r>
              <a:rPr sz="1200" b="0" i="0">
                <a:solidFill>
                  <a:srgbClr val="1E2330"/>
                </a:solidFill>
                <a:latin typeface="Arial"/>
              </a:rPr>
              <a:t>Every artefact records its provenance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11480" y="1115568"/>
            <a:ext cx="11365992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0D12"/>
                </a:solidFill>
                <a:latin typeface="Arial"/>
              </a:rPr>
              <a:t>Working prototype today: all 10 validation targets met on our synthetic corpus.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/>
          <a:lstStyle/>
          <a:p>
            <a:pPr algn="ctr"/>
            <a:r>
              <a:rPr lang="en-US" dirty="0" sz="1200"/>
              <a:t>&lt;TEAM_NAME&gt;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411480" y="1572768"/>
            <a:ext cx="4526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E6CF5"/>
                </a:solidFill>
                <a:latin typeface="Arial"/>
              </a:rPr>
              <a:t>❖ </a:t>
            </a:r>
            <a:r>
              <a:rPr sz="1400" b="1" i="0">
                <a:solidFill>
                  <a:srgbClr val="6E6CF5"/>
                </a:solidFill>
                <a:latin typeface="Arial"/>
              </a:rPr>
              <a:t>Validation vs PRD targets (synthetic)</a:t>
            </a:r>
          </a:p>
        </p:txBody>
      </p:sp>
      <p:graphicFrame>
        <p:nvGraphicFramePr>
          <p:cNvPr id="17412" name="Table 17411"/>
          <p:cNvGraphicFramePr>
            <a:graphicFrameLocks noGrp="1"/>
          </p:cNvGraphicFramePr>
          <p:nvPr/>
        </p:nvGraphicFramePr>
        <p:xfrm>
          <a:off x="411480" y="1892807"/>
          <a:ext cx="4526280" cy="35707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03120"/>
                <a:gridCol w="777240"/>
                <a:gridCol w="777240"/>
                <a:gridCol w="868680"/>
              </a:tblGrid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B0D12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73152" marR="54864" marT="18288" marB="18288" anchor="ctr">
                    <a:lnL w="9525">
                      <a:solidFill>
                        <a:srgbClr val="B7BECC"/>
                      </a:solidFill>
                    </a:lnL>
                    <a:lnR w="9525">
                      <a:solidFill>
                        <a:srgbClr val="B7BECC"/>
                      </a:solidFill>
                    </a:lnR>
                    <a:lnT w="9525">
                      <a:solidFill>
                        <a:srgbClr val="B7BECC"/>
                      </a:solidFill>
                    </a:lnT>
                    <a:lnB w="9525">
                      <a:solidFill>
                        <a:srgbClr val="B7BECC"/>
                      </a:solidFill>
                    </a:lnB>
                    <a:solidFill>
                      <a:srgbClr val="F0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B0D12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73152" marR="54864" marT="18288" marB="18288" anchor="ctr">
                    <a:lnL w="9525">
                      <a:solidFill>
                        <a:srgbClr val="B7BECC"/>
                      </a:solidFill>
                    </a:lnL>
                    <a:lnR w="9525">
                      <a:solidFill>
                        <a:srgbClr val="B7BECC"/>
                      </a:solidFill>
                    </a:lnR>
                    <a:lnT w="9525">
                      <a:solidFill>
                        <a:srgbClr val="B7BECC"/>
                      </a:solidFill>
                    </a:lnT>
                    <a:lnB w="9525">
                      <a:solidFill>
                        <a:srgbClr val="B7BECC"/>
                      </a:solidFill>
                    </a:lnB>
                    <a:solidFill>
                      <a:srgbClr val="F0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B0D12"/>
                          </a:solidFill>
                          <a:latin typeface="Arial"/>
                        </a:rPr>
                        <a:t>Result</a:t>
                      </a:r>
                    </a:p>
                  </a:txBody>
                  <a:tcPr marL="73152" marR="54864" marT="18288" marB="18288" anchor="ctr">
                    <a:lnL w="9525">
                      <a:solidFill>
                        <a:srgbClr val="B7BECC"/>
                      </a:solidFill>
                    </a:lnL>
                    <a:lnR w="9525">
                      <a:solidFill>
                        <a:srgbClr val="B7BECC"/>
                      </a:solidFill>
                    </a:lnR>
                    <a:lnT w="9525">
                      <a:solidFill>
                        <a:srgbClr val="B7BECC"/>
                      </a:solidFill>
                    </a:lnT>
                    <a:lnB w="9525">
                      <a:solidFill>
                        <a:srgbClr val="B7BECC"/>
                      </a:solidFill>
                    </a:lnB>
                    <a:solidFill>
                      <a:srgbClr val="F0F0F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B0D12"/>
                          </a:solidFill>
                          <a:latin typeface="Arial"/>
                        </a:rPr>
                        <a:t>Scored</a:t>
                      </a:r>
                    </a:p>
                  </a:txBody>
                  <a:tcPr marL="73152" marR="54864" marT="18288" marB="18288" anchor="ctr">
                    <a:lnL w="9525">
                      <a:solidFill>
                        <a:srgbClr val="B7BECC"/>
                      </a:solidFill>
                    </a:lnL>
                    <a:lnR w="9525">
                      <a:solidFill>
                        <a:srgbClr val="B7BECC"/>
                      </a:solidFill>
                    </a:lnR>
                    <a:lnT w="9525">
                      <a:solidFill>
                        <a:srgbClr val="B7BECC"/>
                      </a:solidFill>
                    </a:lnT>
                    <a:lnB w="9525">
                      <a:solidFill>
                        <a:srgbClr val="B7BECC"/>
                      </a:solidFill>
                    </a:lnB>
                    <a:solidFill>
                      <a:srgbClr val="F0F0FE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E2330"/>
                          </a:solidFill>
                          <a:latin typeface="Arial"/>
                        </a:rPr>
                        <a:t>Deleted-frame recovery</a:t>
                      </a:r>
                    </a:p>
                  </a:txBody>
                  <a:tcPr marL="73152" marR="54864" marT="18288" marB="18288" anchor="ctr">
                    <a:lnL w="9525">
                      <a:solidFill>
                        <a:srgbClr val="B7BECC"/>
                      </a:solidFill>
                    </a:lnL>
                    <a:lnR w="9525">
                      <a:solidFill>
                        <a:srgbClr val="B7BECC"/>
                      </a:solidFill>
                    </a:lnR>
                    <a:lnT w="9525">
                      <a:solidFill>
                        <a:srgbClr val="B7BECC"/>
                      </a:solidFill>
                    </a:lnT>
                    <a:lnB w="9525">
                      <a:solidFill>
                        <a:srgbClr val="B7BE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E2330"/>
                          </a:solidFill>
                          <a:latin typeface="Arial"/>
                        </a:rPr>
                        <a:t>≥ 95%</a:t>
                      </a:r>
                    </a:p>
                  </a:txBody>
                  <a:tcPr marL="73152" marR="54864" marT="18288" marB="18288" anchor="ctr">
                    <a:lnL w="9525">
                      <a:solidFill>
                        <a:srgbClr val="B7BECC"/>
                      </a:solidFill>
                    </a:lnL>
                    <a:lnR w="9525">
                      <a:solidFill>
                        <a:srgbClr val="B7BECC"/>
                      </a:solidFill>
                    </a:lnR>
                    <a:lnT w="9525">
                      <a:solidFill>
                        <a:srgbClr val="B7BECC"/>
                      </a:solidFill>
                    </a:lnT>
                    <a:lnB w="9525">
                      <a:solidFill>
                        <a:srgbClr val="B7BE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B0D12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3152" marR="54864" marT="18288" marB="18288" anchor="ctr">
                    <a:lnL w="9525">
                      <a:solidFill>
                        <a:srgbClr val="B7BECC"/>
                      </a:solidFill>
                    </a:lnL>
                    <a:lnR w="9525">
                      <a:solidFill>
                        <a:srgbClr val="B7BECC"/>
                      </a:solidFill>
                    </a:lnR>
                    <a:lnT w="9525">
                      <a:solidFill>
                        <a:srgbClr val="B7BECC"/>
                      </a:solidFill>
                    </a:lnT>
                    <a:lnB w="9525">
                      <a:solidFill>
                        <a:srgbClr val="B7BE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E2330"/>
                          </a:solidFill>
                          <a:latin typeface="Arial"/>
                        </a:rPr>
                        <a:t>5/10</a:t>
                      </a:r>
                    </a:p>
                  </a:txBody>
                  <a:tcPr marL="73152" marR="54864" marT="18288" marB="18288" anchor="ctr">
                    <a:lnL w="9525">
                      <a:solidFill>
                        <a:srgbClr val="B7BECC"/>
                      </a:solidFill>
                    </a:lnL>
                    <a:lnR w="9525">
                      <a:solidFill>
                        <a:srgbClr val="B7BECC"/>
                      </a:solidFill>
                    </a:lnR>
                    <a:lnT w="9525">
                      <a:solidFill>
                        <a:srgbClr val="B7BECC"/>
                      </a:solidFill>
                    </a:lnT>
                    <a:lnB w="9525">
                      <a:solidFill>
                        <a:srgbClr val="B7BE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E2330"/>
                          </a:solidFill>
                          <a:latin typeface="Arial"/>
                        </a:rPr>
                        <a:t>Recovery precision</a:t>
                      </a:r>
                    </a:p>
                  </a:txBody>
                  <a:tcPr marL="73152" marR="54864" marT="18288" marB="18288" anchor="ctr">
                    <a:lnL w="9525">
                      <a:solidFill>
                        <a:srgbClr val="B7BECC"/>
                      </a:solidFill>
                    </a:lnL>
                    <a:lnR w="9525">
                      <a:solidFill>
                        <a:srgbClr val="B7BECC"/>
                      </a:solidFill>
                    </a:lnR>
                    <a:lnT w="9525">
                      <a:solidFill>
                        <a:srgbClr val="B7BECC"/>
                      </a:solidFill>
                    </a:lnT>
                    <a:lnB w="9525">
                      <a:solidFill>
                        <a:srgbClr val="B7BE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E2330"/>
                          </a:solidFill>
                          <a:latin typeface="Arial"/>
                        </a:rPr>
                        <a:t>≥ 99%</a:t>
                      </a:r>
                    </a:p>
                  </a:txBody>
                  <a:tcPr marL="73152" marR="54864" marT="18288" marB="18288" anchor="ctr">
                    <a:lnL w="9525">
                      <a:solidFill>
                        <a:srgbClr val="B7BECC"/>
                      </a:solidFill>
                    </a:lnL>
                    <a:lnR w="9525">
                      <a:solidFill>
                        <a:srgbClr val="B7BECC"/>
                      </a:solidFill>
                    </a:lnR>
                    <a:lnT w="9525">
                      <a:solidFill>
                        <a:srgbClr val="B7BECC"/>
                      </a:solidFill>
                    </a:lnT>
                    <a:lnB w="9525">
                      <a:solidFill>
                        <a:srgbClr val="B7BE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B0D12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3152" marR="54864" marT="18288" marB="18288" anchor="ctr">
                    <a:lnL w="9525">
                      <a:solidFill>
                        <a:srgbClr val="B7BECC"/>
                      </a:solidFill>
                    </a:lnL>
                    <a:lnR w="9525">
                      <a:solidFill>
                        <a:srgbClr val="B7BECC"/>
                      </a:solidFill>
                    </a:lnR>
                    <a:lnT w="9525">
                      <a:solidFill>
                        <a:srgbClr val="B7BECC"/>
                      </a:solidFill>
                    </a:lnT>
                    <a:lnB w="9525">
                      <a:solidFill>
                        <a:srgbClr val="B7BE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E2330"/>
                          </a:solidFill>
                          <a:latin typeface="Arial"/>
                        </a:rPr>
                        <a:t>7/10</a:t>
                      </a:r>
                    </a:p>
                  </a:txBody>
                  <a:tcPr marL="73152" marR="54864" marT="18288" marB="18288" anchor="ctr">
                    <a:lnL w="9525">
                      <a:solidFill>
                        <a:srgbClr val="B7BECC"/>
                      </a:solidFill>
                    </a:lnL>
                    <a:lnR w="9525">
                      <a:solidFill>
                        <a:srgbClr val="B7BECC"/>
                      </a:solidFill>
                    </a:lnR>
                    <a:lnT w="9525">
                      <a:solidFill>
                        <a:srgbClr val="B7BECC"/>
                      </a:solidFill>
                    </a:lnT>
                    <a:lnB w="9525">
                      <a:solidFill>
                        <a:srgbClr val="B7BE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E2330"/>
                          </a:solidFill>
                          <a:latin typeface="Arial"/>
                        </a:rPr>
                        <a:t>Recording parse</a:t>
                      </a:r>
                    </a:p>
                  </a:txBody>
                  <a:tcPr marL="73152" marR="54864" marT="18288" marB="18288" anchor="ctr">
                    <a:lnL w="9525">
                      <a:solidFill>
                        <a:srgbClr val="B7BECC"/>
                      </a:solidFill>
                    </a:lnL>
                    <a:lnR w="9525">
                      <a:solidFill>
                        <a:srgbClr val="B7BECC"/>
                      </a:solidFill>
                    </a:lnR>
                    <a:lnT w="9525">
                      <a:solidFill>
                        <a:srgbClr val="B7BECC"/>
                      </a:solidFill>
                    </a:lnT>
                    <a:lnB w="9525">
                      <a:solidFill>
                        <a:srgbClr val="B7BE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E2330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3152" marR="54864" marT="18288" marB="18288" anchor="ctr">
                    <a:lnL w="9525">
                      <a:solidFill>
                        <a:srgbClr val="B7BECC"/>
                      </a:solidFill>
                    </a:lnL>
                    <a:lnR w="9525">
                      <a:solidFill>
                        <a:srgbClr val="B7BECC"/>
                      </a:solidFill>
                    </a:lnR>
                    <a:lnT w="9525">
                      <a:solidFill>
                        <a:srgbClr val="B7BECC"/>
                      </a:solidFill>
                    </a:lnT>
                    <a:lnB w="9525">
                      <a:solidFill>
                        <a:srgbClr val="B7BE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B0D12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3152" marR="54864" marT="18288" marB="18288" anchor="ctr">
                    <a:lnL w="9525">
                      <a:solidFill>
                        <a:srgbClr val="B7BECC"/>
                      </a:solidFill>
                    </a:lnL>
                    <a:lnR w="9525">
                      <a:solidFill>
                        <a:srgbClr val="B7BECC"/>
                      </a:solidFill>
                    </a:lnR>
                    <a:lnT w="9525">
                      <a:solidFill>
                        <a:srgbClr val="B7BECC"/>
                      </a:solidFill>
                    </a:lnT>
                    <a:lnB w="9525">
                      <a:solidFill>
                        <a:srgbClr val="B7BE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E2330"/>
                          </a:solidFill>
                          <a:latin typeface="Arial"/>
                        </a:rPr>
                        <a:t>7/10</a:t>
                      </a:r>
                    </a:p>
                  </a:txBody>
                  <a:tcPr marL="73152" marR="54864" marT="18288" marB="18288" anchor="ctr">
                    <a:lnL w="9525">
                      <a:solidFill>
                        <a:srgbClr val="B7BECC"/>
                      </a:solidFill>
                    </a:lnL>
                    <a:lnR w="9525">
                      <a:solidFill>
                        <a:srgbClr val="B7BECC"/>
                      </a:solidFill>
                    </a:lnR>
                    <a:lnT w="9525">
                      <a:solidFill>
                        <a:srgbClr val="B7BECC"/>
                      </a:solidFill>
                    </a:lnT>
                    <a:lnB w="9525">
                      <a:solidFill>
                        <a:srgbClr val="B7BE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E2330"/>
                          </a:solidFill>
                          <a:latin typeface="Arial"/>
                        </a:rPr>
                        <a:t>Timestamp error ≤ 1 s</a:t>
                      </a:r>
                    </a:p>
                  </a:txBody>
                  <a:tcPr marL="73152" marR="54864" marT="18288" marB="18288" anchor="ctr">
                    <a:lnL w="9525">
                      <a:solidFill>
                        <a:srgbClr val="B7BECC"/>
                      </a:solidFill>
                    </a:lnL>
                    <a:lnR w="9525">
                      <a:solidFill>
                        <a:srgbClr val="B7BECC"/>
                      </a:solidFill>
                    </a:lnR>
                    <a:lnT w="9525">
                      <a:solidFill>
                        <a:srgbClr val="B7BECC"/>
                      </a:solidFill>
                    </a:lnT>
                    <a:lnB w="9525">
                      <a:solidFill>
                        <a:srgbClr val="B7BE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E2330"/>
                          </a:solidFill>
                          <a:latin typeface="Arial"/>
                        </a:rPr>
                        <a:t>≥ 99%</a:t>
                      </a:r>
                    </a:p>
                  </a:txBody>
                  <a:tcPr marL="73152" marR="54864" marT="18288" marB="18288" anchor="ctr">
                    <a:lnL w="9525">
                      <a:solidFill>
                        <a:srgbClr val="B7BECC"/>
                      </a:solidFill>
                    </a:lnL>
                    <a:lnR w="9525">
                      <a:solidFill>
                        <a:srgbClr val="B7BECC"/>
                      </a:solidFill>
                    </a:lnR>
                    <a:lnT w="9525">
                      <a:solidFill>
                        <a:srgbClr val="B7BECC"/>
                      </a:solidFill>
                    </a:lnT>
                    <a:lnB w="9525">
                      <a:solidFill>
                        <a:srgbClr val="B7BE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B0D12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3152" marR="54864" marT="18288" marB="18288" anchor="ctr">
                    <a:lnL w="9525">
                      <a:solidFill>
                        <a:srgbClr val="B7BECC"/>
                      </a:solidFill>
                    </a:lnL>
                    <a:lnR w="9525">
                      <a:solidFill>
                        <a:srgbClr val="B7BECC"/>
                      </a:solidFill>
                    </a:lnR>
                    <a:lnT w="9525">
                      <a:solidFill>
                        <a:srgbClr val="B7BECC"/>
                      </a:solidFill>
                    </a:lnT>
                    <a:lnB w="9525">
                      <a:solidFill>
                        <a:srgbClr val="B7BE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E2330"/>
                          </a:solidFill>
                          <a:latin typeface="Arial"/>
                        </a:rPr>
                        <a:t>9/10</a:t>
                      </a:r>
                    </a:p>
                  </a:txBody>
                  <a:tcPr marL="73152" marR="54864" marT="18288" marB="18288" anchor="ctr">
                    <a:lnL w="9525">
                      <a:solidFill>
                        <a:srgbClr val="B7BECC"/>
                      </a:solidFill>
                    </a:lnL>
                    <a:lnR w="9525">
                      <a:solidFill>
                        <a:srgbClr val="B7BECC"/>
                      </a:solidFill>
                    </a:lnR>
                    <a:lnT w="9525">
                      <a:solidFill>
                        <a:srgbClr val="B7BECC"/>
                      </a:solidFill>
                    </a:lnT>
                    <a:lnB w="9525">
                      <a:solidFill>
                        <a:srgbClr val="B7BE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E2330"/>
                          </a:solidFill>
                          <a:latin typeface="Arial"/>
                        </a:rPr>
                        <a:t>Deletion method</a:t>
                      </a:r>
                    </a:p>
                  </a:txBody>
                  <a:tcPr marL="73152" marR="54864" marT="18288" marB="18288" anchor="ctr">
                    <a:lnL w="9525">
                      <a:solidFill>
                        <a:srgbClr val="B7BECC"/>
                      </a:solidFill>
                    </a:lnL>
                    <a:lnR w="9525">
                      <a:solidFill>
                        <a:srgbClr val="B7BECC"/>
                      </a:solidFill>
                    </a:lnR>
                    <a:lnT w="9525">
                      <a:solidFill>
                        <a:srgbClr val="B7BECC"/>
                      </a:solidFill>
                    </a:lnT>
                    <a:lnB w="9525">
                      <a:solidFill>
                        <a:srgbClr val="B7BE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E2330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3152" marR="54864" marT="18288" marB="18288" anchor="ctr">
                    <a:lnL w="9525">
                      <a:solidFill>
                        <a:srgbClr val="B7BECC"/>
                      </a:solidFill>
                    </a:lnL>
                    <a:lnR w="9525">
                      <a:solidFill>
                        <a:srgbClr val="B7BECC"/>
                      </a:solidFill>
                    </a:lnR>
                    <a:lnT w="9525">
                      <a:solidFill>
                        <a:srgbClr val="B7BECC"/>
                      </a:solidFill>
                    </a:lnT>
                    <a:lnB w="9525">
                      <a:solidFill>
                        <a:srgbClr val="B7BE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B0D12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3152" marR="54864" marT="18288" marB="18288" anchor="ctr">
                    <a:lnL w="9525">
                      <a:solidFill>
                        <a:srgbClr val="B7BECC"/>
                      </a:solidFill>
                    </a:lnL>
                    <a:lnR w="9525">
                      <a:solidFill>
                        <a:srgbClr val="B7BECC"/>
                      </a:solidFill>
                    </a:lnR>
                    <a:lnT w="9525">
                      <a:solidFill>
                        <a:srgbClr val="B7BECC"/>
                      </a:solidFill>
                    </a:lnT>
                    <a:lnB w="9525">
                      <a:solidFill>
                        <a:srgbClr val="B7BE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E2330"/>
                          </a:solidFill>
                          <a:latin typeface="Arial"/>
                        </a:rPr>
                        <a:t>6/10</a:t>
                      </a:r>
                    </a:p>
                  </a:txBody>
                  <a:tcPr marL="73152" marR="54864" marT="18288" marB="18288" anchor="ctr">
                    <a:lnL w="9525">
                      <a:solidFill>
                        <a:srgbClr val="B7BECC"/>
                      </a:solidFill>
                    </a:lnL>
                    <a:lnR w="9525">
                      <a:solidFill>
                        <a:srgbClr val="B7BECC"/>
                      </a:solidFill>
                    </a:lnR>
                    <a:lnT w="9525">
                      <a:solidFill>
                        <a:srgbClr val="B7BECC"/>
                      </a:solidFill>
                    </a:lnT>
                    <a:lnB w="9525">
                      <a:solidFill>
                        <a:srgbClr val="B7BE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E2330"/>
                          </a:solidFill>
                          <a:latin typeface="Arial"/>
                        </a:rPr>
                        <a:t>Actor attribution</a:t>
                      </a:r>
                    </a:p>
                  </a:txBody>
                  <a:tcPr marL="73152" marR="54864" marT="18288" marB="18288" anchor="ctr">
                    <a:lnL w="9525">
                      <a:solidFill>
                        <a:srgbClr val="B7BECC"/>
                      </a:solidFill>
                    </a:lnL>
                    <a:lnR w="9525">
                      <a:solidFill>
                        <a:srgbClr val="B7BECC"/>
                      </a:solidFill>
                    </a:lnR>
                    <a:lnT w="9525">
                      <a:solidFill>
                        <a:srgbClr val="B7BECC"/>
                      </a:solidFill>
                    </a:lnT>
                    <a:lnB w="9525">
                      <a:solidFill>
                        <a:srgbClr val="B7BE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E2330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3152" marR="54864" marT="18288" marB="18288" anchor="ctr">
                    <a:lnL w="9525">
                      <a:solidFill>
                        <a:srgbClr val="B7BECC"/>
                      </a:solidFill>
                    </a:lnL>
                    <a:lnR w="9525">
                      <a:solidFill>
                        <a:srgbClr val="B7BECC"/>
                      </a:solidFill>
                    </a:lnR>
                    <a:lnT w="9525">
                      <a:solidFill>
                        <a:srgbClr val="B7BECC"/>
                      </a:solidFill>
                    </a:lnT>
                    <a:lnB w="9525">
                      <a:solidFill>
                        <a:srgbClr val="B7BE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B0D12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3152" marR="54864" marT="18288" marB="18288" anchor="ctr">
                    <a:lnL w="9525">
                      <a:solidFill>
                        <a:srgbClr val="B7BECC"/>
                      </a:solidFill>
                    </a:lnL>
                    <a:lnR w="9525">
                      <a:solidFill>
                        <a:srgbClr val="B7BECC"/>
                      </a:solidFill>
                    </a:lnR>
                    <a:lnT w="9525">
                      <a:solidFill>
                        <a:srgbClr val="B7BECC"/>
                      </a:solidFill>
                    </a:lnT>
                    <a:lnB w="9525">
                      <a:solidFill>
                        <a:srgbClr val="B7BE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E2330"/>
                          </a:solidFill>
                          <a:latin typeface="Arial"/>
                        </a:rPr>
                        <a:t>3/10</a:t>
                      </a:r>
                    </a:p>
                  </a:txBody>
                  <a:tcPr marL="73152" marR="54864" marT="18288" marB="18288" anchor="ctr">
                    <a:lnL w="9525">
                      <a:solidFill>
                        <a:srgbClr val="B7BECC"/>
                      </a:solidFill>
                    </a:lnL>
                    <a:lnR w="9525">
                      <a:solidFill>
                        <a:srgbClr val="B7BECC"/>
                      </a:solidFill>
                    </a:lnR>
                    <a:lnT w="9525">
                      <a:solidFill>
                        <a:srgbClr val="B7BECC"/>
                      </a:solidFill>
                    </a:lnT>
                    <a:lnB w="9525">
                      <a:solidFill>
                        <a:srgbClr val="B7BE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E2330"/>
                          </a:solidFill>
                          <a:latin typeface="Arial"/>
                        </a:rPr>
                        <a:t>Tier B inference fields</a:t>
                      </a:r>
                    </a:p>
                  </a:txBody>
                  <a:tcPr marL="73152" marR="54864" marT="18288" marB="18288" anchor="ctr">
                    <a:lnL w="9525">
                      <a:solidFill>
                        <a:srgbClr val="B7BECC"/>
                      </a:solidFill>
                    </a:lnL>
                    <a:lnR w="9525">
                      <a:solidFill>
                        <a:srgbClr val="B7BECC"/>
                      </a:solidFill>
                    </a:lnR>
                    <a:lnT w="9525">
                      <a:solidFill>
                        <a:srgbClr val="B7BECC"/>
                      </a:solidFill>
                    </a:lnT>
                    <a:lnB w="9525">
                      <a:solidFill>
                        <a:srgbClr val="B7BE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E2330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3152" marR="54864" marT="18288" marB="18288" anchor="ctr">
                    <a:lnL w="9525">
                      <a:solidFill>
                        <a:srgbClr val="B7BECC"/>
                      </a:solidFill>
                    </a:lnL>
                    <a:lnR w="9525">
                      <a:solidFill>
                        <a:srgbClr val="B7BECC"/>
                      </a:solidFill>
                    </a:lnR>
                    <a:lnT w="9525">
                      <a:solidFill>
                        <a:srgbClr val="B7BECC"/>
                      </a:solidFill>
                    </a:lnT>
                    <a:lnB w="9525">
                      <a:solidFill>
                        <a:srgbClr val="B7BE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B0D12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3152" marR="54864" marT="18288" marB="18288" anchor="ctr">
                    <a:lnL w="9525">
                      <a:solidFill>
                        <a:srgbClr val="B7BECC"/>
                      </a:solidFill>
                    </a:lnL>
                    <a:lnR w="9525">
                      <a:solidFill>
                        <a:srgbClr val="B7BECC"/>
                      </a:solidFill>
                    </a:lnR>
                    <a:lnT w="9525">
                      <a:solidFill>
                        <a:srgbClr val="B7BECC"/>
                      </a:solidFill>
                    </a:lnT>
                    <a:lnB w="9525">
                      <a:solidFill>
                        <a:srgbClr val="B7BE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E2330"/>
                          </a:solidFill>
                          <a:latin typeface="Arial"/>
                        </a:rPr>
                        <a:t>2/10</a:t>
                      </a:r>
                    </a:p>
                  </a:txBody>
                  <a:tcPr marL="73152" marR="54864" marT="18288" marB="18288" anchor="ctr">
                    <a:lnL w="9525">
                      <a:solidFill>
                        <a:srgbClr val="B7BECC"/>
                      </a:solidFill>
                    </a:lnL>
                    <a:lnR w="9525">
                      <a:solidFill>
                        <a:srgbClr val="B7BECC"/>
                      </a:solidFill>
                    </a:lnR>
                    <a:lnT w="9525">
                      <a:solidFill>
                        <a:srgbClr val="B7BECC"/>
                      </a:solidFill>
                    </a:lnT>
                    <a:lnB w="9525">
                      <a:solidFill>
                        <a:srgbClr val="B7BE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E2330"/>
                          </a:solidFill>
                          <a:latin typeface="Arial"/>
                        </a:rPr>
                        <a:t>Motion F1</a:t>
                      </a:r>
                    </a:p>
                  </a:txBody>
                  <a:tcPr marL="73152" marR="54864" marT="18288" marB="18288" anchor="ctr">
                    <a:lnL w="9525">
                      <a:solidFill>
                        <a:srgbClr val="B7BECC"/>
                      </a:solidFill>
                    </a:lnL>
                    <a:lnR w="9525">
                      <a:solidFill>
                        <a:srgbClr val="B7BECC"/>
                      </a:solidFill>
                    </a:lnR>
                    <a:lnT w="9525">
                      <a:solidFill>
                        <a:srgbClr val="B7BECC"/>
                      </a:solidFill>
                    </a:lnT>
                    <a:lnB w="9525">
                      <a:solidFill>
                        <a:srgbClr val="B7BE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E2330"/>
                          </a:solidFill>
                          <a:latin typeface="Arial"/>
                        </a:rPr>
                        <a:t>≥ 80%</a:t>
                      </a:r>
                    </a:p>
                  </a:txBody>
                  <a:tcPr marL="73152" marR="54864" marT="18288" marB="18288" anchor="ctr">
                    <a:lnL w="9525">
                      <a:solidFill>
                        <a:srgbClr val="B7BECC"/>
                      </a:solidFill>
                    </a:lnL>
                    <a:lnR w="9525">
                      <a:solidFill>
                        <a:srgbClr val="B7BECC"/>
                      </a:solidFill>
                    </a:lnR>
                    <a:lnT w="9525">
                      <a:solidFill>
                        <a:srgbClr val="B7BECC"/>
                      </a:solidFill>
                    </a:lnT>
                    <a:lnB w="9525">
                      <a:solidFill>
                        <a:srgbClr val="B7BE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B0D12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73152" marR="54864" marT="18288" marB="18288" anchor="ctr">
                    <a:lnL w="9525">
                      <a:solidFill>
                        <a:srgbClr val="B7BECC"/>
                      </a:solidFill>
                    </a:lnL>
                    <a:lnR w="9525">
                      <a:solidFill>
                        <a:srgbClr val="B7BECC"/>
                      </a:solidFill>
                    </a:lnR>
                    <a:lnT w="9525">
                      <a:solidFill>
                        <a:srgbClr val="B7BECC"/>
                      </a:solidFill>
                    </a:lnT>
                    <a:lnB w="9525">
                      <a:solidFill>
                        <a:srgbClr val="B7BE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E2330"/>
                          </a:solidFill>
                          <a:latin typeface="Arial"/>
                        </a:rPr>
                        <a:t>6/10</a:t>
                      </a:r>
                    </a:p>
                  </a:txBody>
                  <a:tcPr marL="73152" marR="54864" marT="18288" marB="18288" anchor="ctr">
                    <a:lnL w="9525">
                      <a:solidFill>
                        <a:srgbClr val="B7BECC"/>
                      </a:solidFill>
                    </a:lnL>
                    <a:lnR w="9525">
                      <a:solidFill>
                        <a:srgbClr val="B7BECC"/>
                      </a:solidFill>
                    </a:lnR>
                    <a:lnT w="9525">
                      <a:solidFill>
                        <a:srgbClr val="B7BECC"/>
                      </a:solidFill>
                    </a:lnT>
                    <a:lnB w="9525">
                      <a:solidFill>
                        <a:srgbClr val="B7BE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E2330"/>
                          </a:solidFill>
                          <a:latin typeface="Arial"/>
                        </a:rPr>
                        <a:t>Report determinism</a:t>
                      </a:r>
                    </a:p>
                  </a:txBody>
                  <a:tcPr marL="73152" marR="54864" marT="18288" marB="18288" anchor="ctr">
                    <a:lnL w="9525">
                      <a:solidFill>
                        <a:srgbClr val="B7BECC"/>
                      </a:solidFill>
                    </a:lnL>
                    <a:lnR w="9525">
                      <a:solidFill>
                        <a:srgbClr val="B7BECC"/>
                      </a:solidFill>
                    </a:lnR>
                    <a:lnT w="9525">
                      <a:solidFill>
                        <a:srgbClr val="B7BECC"/>
                      </a:solidFill>
                    </a:lnT>
                    <a:lnB w="9525">
                      <a:solidFill>
                        <a:srgbClr val="B7BE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E233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54864" marT="18288" marB="18288" anchor="ctr">
                    <a:lnL w="9525">
                      <a:solidFill>
                        <a:srgbClr val="B7BECC"/>
                      </a:solidFill>
                    </a:lnL>
                    <a:lnR w="9525">
                      <a:solidFill>
                        <a:srgbClr val="B7BECC"/>
                      </a:solidFill>
                    </a:lnR>
                    <a:lnT w="9525">
                      <a:solidFill>
                        <a:srgbClr val="B7BECC"/>
                      </a:solidFill>
                    </a:lnT>
                    <a:lnB w="9525">
                      <a:solidFill>
                        <a:srgbClr val="B7BE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B0D12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54864" marT="18288" marB="18288" anchor="ctr">
                    <a:lnL w="9525">
                      <a:solidFill>
                        <a:srgbClr val="B7BECC"/>
                      </a:solidFill>
                    </a:lnL>
                    <a:lnR w="9525">
                      <a:solidFill>
                        <a:srgbClr val="B7BECC"/>
                      </a:solidFill>
                    </a:lnR>
                    <a:lnT w="9525">
                      <a:solidFill>
                        <a:srgbClr val="B7BECC"/>
                      </a:solidFill>
                    </a:lnT>
                    <a:lnB w="9525">
                      <a:solidFill>
                        <a:srgbClr val="B7BE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E2330"/>
                          </a:solidFill>
                          <a:latin typeface="Arial"/>
                        </a:rPr>
                        <a:t>10/10</a:t>
                      </a:r>
                    </a:p>
                  </a:txBody>
                  <a:tcPr marL="73152" marR="54864" marT="18288" marB="18288" anchor="ctr">
                    <a:lnL w="9525">
                      <a:solidFill>
                        <a:srgbClr val="B7BECC"/>
                      </a:solidFill>
                    </a:lnL>
                    <a:lnR w="9525">
                      <a:solidFill>
                        <a:srgbClr val="B7BECC"/>
                      </a:solidFill>
                    </a:lnR>
                    <a:lnT w="9525">
                      <a:solidFill>
                        <a:srgbClr val="B7BECC"/>
                      </a:solidFill>
                    </a:lnT>
                    <a:lnB w="9525">
                      <a:solidFill>
                        <a:srgbClr val="B7BEC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E2330"/>
                          </a:solidFill>
                          <a:latin typeface="Arial"/>
                        </a:rPr>
                        <a:t>Read-only guarantee</a:t>
                      </a:r>
                    </a:p>
                  </a:txBody>
                  <a:tcPr marL="73152" marR="54864" marT="18288" marB="18288" anchor="ctr">
                    <a:lnL w="9525">
                      <a:solidFill>
                        <a:srgbClr val="B7BECC"/>
                      </a:solidFill>
                    </a:lnL>
                    <a:lnR w="9525">
                      <a:solidFill>
                        <a:srgbClr val="B7BECC"/>
                      </a:solidFill>
                    </a:lnR>
                    <a:lnT w="9525">
                      <a:solidFill>
                        <a:srgbClr val="B7BECC"/>
                      </a:solidFill>
                    </a:lnT>
                    <a:lnB w="9525">
                      <a:solidFill>
                        <a:srgbClr val="B7BE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E2330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54864" marT="18288" marB="18288" anchor="ctr">
                    <a:lnL w="9525">
                      <a:solidFill>
                        <a:srgbClr val="B7BECC"/>
                      </a:solidFill>
                    </a:lnL>
                    <a:lnR w="9525">
                      <a:solidFill>
                        <a:srgbClr val="B7BECC"/>
                      </a:solidFill>
                    </a:lnR>
                    <a:lnT w="9525">
                      <a:solidFill>
                        <a:srgbClr val="B7BECC"/>
                      </a:solidFill>
                    </a:lnT>
                    <a:lnB w="9525">
                      <a:solidFill>
                        <a:srgbClr val="B7BE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B0D12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73152" marR="54864" marT="18288" marB="18288" anchor="ctr">
                    <a:lnL w="9525">
                      <a:solidFill>
                        <a:srgbClr val="B7BECC"/>
                      </a:solidFill>
                    </a:lnL>
                    <a:lnR w="9525">
                      <a:solidFill>
                        <a:srgbClr val="B7BECC"/>
                      </a:solidFill>
                    </a:lnR>
                    <a:lnT w="9525">
                      <a:solidFill>
                        <a:srgbClr val="B7BECC"/>
                      </a:solidFill>
                    </a:lnT>
                    <a:lnB w="9525">
                      <a:solidFill>
                        <a:srgbClr val="B7BEC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E2330"/>
                          </a:solidFill>
                          <a:latin typeface="Arial"/>
                        </a:rPr>
                        <a:t>10/10</a:t>
                      </a:r>
                    </a:p>
                  </a:txBody>
                  <a:tcPr marL="73152" marR="54864" marT="18288" marB="18288" anchor="ctr">
                    <a:lnL w="9525">
                      <a:solidFill>
                        <a:srgbClr val="B7BECC"/>
                      </a:solidFill>
                    </a:lnL>
                    <a:lnR w="9525">
                      <a:solidFill>
                        <a:srgbClr val="B7BECC"/>
                      </a:solidFill>
                    </a:lnR>
                    <a:lnT w="9525">
                      <a:solidFill>
                        <a:srgbClr val="B7BECC"/>
                      </a:solidFill>
                    </a:lnT>
                    <a:lnB w="9525">
                      <a:solidFill>
                        <a:srgbClr val="B7BEC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413" name="TextBox 17412"/>
          <p:cNvSpPr txBox="1"/>
          <p:nvPr/>
        </p:nvSpPr>
        <p:spPr>
          <a:xfrm>
            <a:off x="411480" y="5536692"/>
            <a:ext cx="4526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5B6479"/>
                </a:solidFill>
                <a:latin typeface="Arial"/>
              </a:rPr>
              <a:t>Synthetic corpus: 10 images modelled on published layouts (just validate). Real vendor disks not yet tested.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5257800" y="1572768"/>
            <a:ext cx="65196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E6CF5"/>
                </a:solidFill>
                <a:latin typeface="Arial"/>
              </a:rPr>
              <a:t>❖ </a:t>
            </a:r>
            <a:r>
              <a:rPr sz="1400" b="1" i="0">
                <a:solidFill>
                  <a:srgbClr val="6E6CF5"/>
                </a:solidFill>
                <a:latin typeface="Arial"/>
              </a:rPr>
              <a:t>Analysis of the feasibility of the idea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5257800" y="1892807"/>
            <a:ext cx="2100072" cy="658368"/>
          </a:xfrm>
          <a:prstGeom prst="roundRect">
            <a:avLst>
              <a:gd name="adj" fmla="val 6000"/>
            </a:avLst>
          </a:prstGeom>
          <a:solidFill>
            <a:srgbClr val="F0F0FE"/>
          </a:solidFill>
          <a:ln>
            <a:noFill/>
          </a:ln>
          <a:effectLst/>
        </p:spPr>
        <p:txBody>
          <a:bodyPr rtlCol="0" anchor="ctr" wrap="square" tIns="27432" bIns="27432" rIns="73152"/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E6CF5"/>
                </a:solidFill>
                <a:latin typeface="Arial"/>
              </a:rPr>
              <a:t>✓ </a:t>
            </a:r>
            <a:r>
              <a:rPr sz="1200" b="0" i="0">
                <a:solidFill>
                  <a:srgbClr val="0B0D12"/>
                </a:solidFill>
                <a:latin typeface="Arial"/>
              </a:rPr>
              <a:t>Tier A parsers for 3 synthetic families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7467600" y="1892807"/>
            <a:ext cx="2100072" cy="658368"/>
          </a:xfrm>
          <a:prstGeom prst="roundRect">
            <a:avLst>
              <a:gd name="adj" fmla="val 6000"/>
            </a:avLst>
          </a:prstGeom>
          <a:solidFill>
            <a:srgbClr val="F0F0FE"/>
          </a:solidFill>
          <a:ln>
            <a:noFill/>
          </a:ln>
          <a:effectLst/>
        </p:spPr>
        <p:txBody>
          <a:bodyPr rtlCol="0" anchor="ctr" wrap="square" tIns="27432" bIns="27432" rIns="73152"/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E6CF5"/>
                </a:solidFill>
                <a:latin typeface="Arial"/>
              </a:rPr>
              <a:t>✓ </a:t>
            </a:r>
            <a:r>
              <a:rPr sz="1200" b="0" i="0">
                <a:solidFill>
                  <a:srgbClr val="0B0D12"/>
                </a:solidFill>
                <a:latin typeface="Arial"/>
              </a:rPr>
              <a:t>Deleted footage recovered as playable, stream-copied clips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9677400" y="1892807"/>
            <a:ext cx="2100072" cy="658368"/>
          </a:xfrm>
          <a:prstGeom prst="roundRect">
            <a:avLst>
              <a:gd name="adj" fmla="val 6000"/>
            </a:avLst>
          </a:prstGeom>
          <a:solidFill>
            <a:srgbClr val="F0F0FE"/>
          </a:solidFill>
          <a:ln>
            <a:noFill/>
          </a:ln>
          <a:effectLst/>
        </p:spPr>
        <p:txBody>
          <a:bodyPr rtlCol="0" anchor="ctr" wrap="square" tIns="27432" bIns="27432" rIns="73152"/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E6CF5"/>
                </a:solidFill>
                <a:latin typeface="Arial"/>
              </a:rPr>
              <a:t>✓ </a:t>
            </a:r>
            <a:r>
              <a:rPr sz="1200" b="0" i="0">
                <a:solidFill>
                  <a:srgbClr val="0B0D12"/>
                </a:solidFill>
                <a:latin typeface="Arial"/>
              </a:rPr>
              <a:t>Unknown-vendor layout inferred blind, then examiner-confirmed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5257800" y="2624327"/>
            <a:ext cx="2100072" cy="658368"/>
          </a:xfrm>
          <a:prstGeom prst="roundRect">
            <a:avLst>
              <a:gd name="adj" fmla="val 6000"/>
            </a:avLst>
          </a:prstGeom>
          <a:solidFill>
            <a:srgbClr val="F0F0FE"/>
          </a:solidFill>
          <a:ln>
            <a:noFill/>
          </a:ln>
          <a:effectLst/>
        </p:spPr>
        <p:txBody>
          <a:bodyPr rtlCol="0" anchor="ctr" wrap="square" tIns="27432" bIns="27432" rIns="73152"/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E6CF5"/>
                </a:solidFill>
                <a:latin typeface="Arial"/>
              </a:rPr>
              <a:t>✓ </a:t>
            </a:r>
            <a:r>
              <a:rPr sz="1200" b="0" i="0">
                <a:solidFill>
                  <a:srgbClr val="0B0D12"/>
                </a:solidFill>
                <a:latin typeface="Arial"/>
              </a:rPr>
              <a:t>Signed PDF + BSA s.63 certificate, deterministic manifest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7467600" y="2624327"/>
            <a:ext cx="2100072" cy="658368"/>
          </a:xfrm>
          <a:prstGeom prst="roundRect">
            <a:avLst>
              <a:gd name="adj" fmla="val 6000"/>
            </a:avLst>
          </a:prstGeom>
          <a:solidFill>
            <a:srgbClr val="F0F0FE"/>
          </a:solidFill>
          <a:ln>
            <a:noFill/>
          </a:ln>
          <a:effectLst/>
        </p:spPr>
        <p:txBody>
          <a:bodyPr rtlCol="0" anchor="ctr" wrap="square" tIns="27432" bIns="27432" rIns="73152"/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E6CF5"/>
                </a:solidFill>
                <a:latin typeface="Arial"/>
              </a:rPr>
              <a:t>✓ </a:t>
            </a:r>
            <a:r>
              <a:rPr sz="1200" b="0" i="0">
                <a:solidFill>
                  <a:srgbClr val="0B0D12"/>
                </a:solidFill>
                <a:latin typeface="Arial"/>
              </a:rPr>
              <a:t>Ed25519 custody chain + Merkle anchor, verified in UI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9677400" y="2624327"/>
            <a:ext cx="2100072" cy="658368"/>
          </a:xfrm>
          <a:prstGeom prst="roundRect">
            <a:avLst>
              <a:gd name="adj" fmla="val 6000"/>
            </a:avLst>
          </a:prstGeom>
          <a:solidFill>
            <a:srgbClr val="F0F0FE"/>
          </a:solidFill>
          <a:ln>
            <a:noFill/>
          </a:ln>
          <a:effectLst/>
        </p:spPr>
        <p:txBody>
          <a:bodyPr rtlCol="0" anchor="ctr" wrap="square" tIns="27432" bIns="27432" rIns="73152"/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6E6CF5"/>
                </a:solidFill>
                <a:latin typeface="Arial"/>
              </a:rPr>
              <a:t>✓ </a:t>
            </a:r>
            <a:r>
              <a:rPr sz="1200" b="0" i="0">
                <a:solidFill>
                  <a:srgbClr val="0B0D12"/>
                </a:solidFill>
                <a:latin typeface="Arial"/>
              </a:rPr>
              <a:t>E2E green at last run: 7/7 API, 7/7 browser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5257800" y="3438144"/>
            <a:ext cx="25603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E6CF5"/>
                </a:solidFill>
                <a:latin typeface="Arial"/>
              </a:rPr>
              <a:t>❖ </a:t>
            </a:r>
            <a:r>
              <a:rPr sz="1400" b="1" i="0">
                <a:solidFill>
                  <a:srgbClr val="6E6CF5"/>
                </a:solidFill>
                <a:latin typeface="Arial"/>
              </a:rPr>
              <a:t>Potential challenges and risks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8129016" y="3438144"/>
            <a:ext cx="3648456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E6CF5"/>
                </a:solidFill>
                <a:latin typeface="Arial"/>
              </a:rPr>
              <a:t>❖ </a:t>
            </a:r>
            <a:r>
              <a:rPr sz="1400" b="1" i="0">
                <a:solidFill>
                  <a:srgbClr val="6E6CF5"/>
                </a:solidFill>
                <a:latin typeface="Arial"/>
              </a:rPr>
              <a:t>Strategies for overcoming these challenges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5257800" y="3950208"/>
            <a:ext cx="2560320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7BECC"/>
            </a:solidFill>
          </a:ln>
          <a:effectLst/>
        </p:spPr>
        <p:txBody>
          <a:bodyPr rtlCol="0" anchor="ctr" wrap="square" tIns="18288" bIns="18288" rIns="54864"/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B0D12"/>
                </a:solidFill>
                <a:latin typeface="Arial"/>
              </a:rPr>
              <a:t>Encrypted disks on new STQC-era firmware</a:t>
            </a:r>
          </a:p>
        </p:txBody>
      </p:sp>
      <p:sp>
        <p:nvSpPr>
          <p:cNvPr id="17424" name="Right Arrow 17423"/>
          <p:cNvSpPr/>
          <p:nvPr/>
        </p:nvSpPr>
        <p:spPr>
          <a:xfrm>
            <a:off x="7891272" y="4069080"/>
            <a:ext cx="164592" cy="164592"/>
          </a:xfrm>
          <a:prstGeom prst="rightArrow">
            <a:avLst/>
          </a:prstGeom>
          <a:solidFill>
            <a:srgbClr val="6E6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25" name="Rounded Rectangle 17424"/>
          <p:cNvSpPr/>
          <p:nvPr/>
        </p:nvSpPr>
        <p:spPr>
          <a:xfrm>
            <a:off x="8129016" y="3950208"/>
            <a:ext cx="3648456" cy="402336"/>
          </a:xfrm>
          <a:prstGeom prst="roundRect">
            <a:avLst>
              <a:gd name="adj" fmla="val 6000"/>
            </a:avLst>
          </a:prstGeom>
          <a:solidFill>
            <a:srgbClr val="F0F0FE"/>
          </a:solidFill>
          <a:ln>
            <a:noFill/>
          </a:ln>
          <a:effectLst/>
        </p:spPr>
        <p:txBody>
          <a:bodyPr rtlCol="0" anchor="ctr" wrap="square" tIns="18288" bIns="18288" rIns="54864"/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B0D12"/>
                </a:solidFill>
                <a:latin typeface="Arial"/>
              </a:rPr>
              <a:t>Logical acquisition fallback (ONVIF / RTSP); limitation stated in the report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5257800" y="4407408"/>
            <a:ext cx="2560320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7BECC"/>
            </a:solidFill>
          </a:ln>
          <a:effectLst/>
        </p:spPr>
        <p:txBody>
          <a:bodyPr rtlCol="0" anchor="ctr" wrap="square" tIns="18288" bIns="18288" rIns="54864"/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B0D12"/>
                </a:solidFill>
                <a:latin typeface="Arial"/>
              </a:rPr>
              <a:t>Real disks differ from published layouts</a:t>
            </a:r>
          </a:p>
        </p:txBody>
      </p:sp>
      <p:sp>
        <p:nvSpPr>
          <p:cNvPr id="17427" name="Right Arrow 17426"/>
          <p:cNvSpPr/>
          <p:nvPr/>
        </p:nvSpPr>
        <p:spPr>
          <a:xfrm>
            <a:off x="7891272" y="4526280"/>
            <a:ext cx="164592" cy="164592"/>
          </a:xfrm>
          <a:prstGeom prst="rightArrow">
            <a:avLst/>
          </a:prstGeom>
          <a:solidFill>
            <a:srgbClr val="6E6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28" name="Rounded Rectangle 17427"/>
          <p:cNvSpPr/>
          <p:nvPr/>
        </p:nvSpPr>
        <p:spPr>
          <a:xfrm>
            <a:off x="8129016" y="4407408"/>
            <a:ext cx="3648456" cy="402336"/>
          </a:xfrm>
          <a:prstGeom prst="roundRect">
            <a:avLst>
              <a:gd name="adj" fmla="val 6000"/>
            </a:avLst>
          </a:prstGeom>
          <a:solidFill>
            <a:srgbClr val="F0F0FE"/>
          </a:solidFill>
          <a:ln>
            <a:noFill/>
          </a:ln>
          <a:effectLst/>
        </p:spPr>
        <p:txBody>
          <a:bodyPr rtlCol="0" anchor="ctr" wrap="square" tIns="18288" bIns="18288" rIns="54864"/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B0D12"/>
                </a:solidFill>
                <a:latin typeface="Arial"/>
              </a:rPr>
              <a:t>Real-disk corpus next: 5–6 used recorders, same validation harness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5257800" y="4864608"/>
            <a:ext cx="2560320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7BECC"/>
            </a:solidFill>
          </a:ln>
          <a:effectLst/>
        </p:spPr>
        <p:txBody>
          <a:bodyPr rtlCol="0" anchor="ctr" wrap="square" tIns="18288" bIns="18288" rIns="54864"/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B0D12"/>
                </a:solidFill>
                <a:latin typeface="Arial"/>
              </a:rPr>
              <a:t>Inferred layout mislabels a field</a:t>
            </a:r>
          </a:p>
        </p:txBody>
      </p:sp>
      <p:sp>
        <p:nvSpPr>
          <p:cNvPr id="17430" name="Right Arrow 17429"/>
          <p:cNvSpPr/>
          <p:nvPr/>
        </p:nvSpPr>
        <p:spPr>
          <a:xfrm>
            <a:off x="7891272" y="4983480"/>
            <a:ext cx="164592" cy="164592"/>
          </a:xfrm>
          <a:prstGeom prst="rightArrow">
            <a:avLst/>
          </a:prstGeom>
          <a:solidFill>
            <a:srgbClr val="6E6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31" name="Rounded Rectangle 17430"/>
          <p:cNvSpPr/>
          <p:nvPr/>
        </p:nvSpPr>
        <p:spPr>
          <a:xfrm>
            <a:off x="8129016" y="4864608"/>
            <a:ext cx="3648456" cy="402336"/>
          </a:xfrm>
          <a:prstGeom prst="roundRect">
            <a:avLst>
              <a:gd name="adj" fmla="val 6000"/>
            </a:avLst>
          </a:prstGeom>
          <a:solidFill>
            <a:srgbClr val="F0F0FE"/>
          </a:solidFill>
          <a:ln>
            <a:noFill/>
          </a:ln>
          <a:effectLst/>
        </p:spPr>
        <p:txBody>
          <a:bodyPr rtlCol="0" anchor="ctr" wrap="square" tIns="18288" bIns="18288" rIns="54864"/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B0D12"/>
                </a:solidFill>
                <a:latin typeface="Arial"/>
              </a:rPr>
              <a:t>Confidence scores, examiner confirmation, tier labels A · B · C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5257800" y="5321808"/>
            <a:ext cx="2560320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7BECC"/>
            </a:solidFill>
          </a:ln>
          <a:effectLst/>
        </p:spPr>
        <p:txBody>
          <a:bodyPr rtlCol="0" anchor="ctr" wrap="square" tIns="18288" bIns="18288" rIns="54864"/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B0D12"/>
                </a:solidFill>
                <a:latin typeface="Arial"/>
              </a:rPr>
              <a:t>Poor on-screen clock OCR</a:t>
            </a:r>
          </a:p>
        </p:txBody>
      </p:sp>
      <p:sp>
        <p:nvSpPr>
          <p:cNvPr id="17433" name="Right Arrow 17432"/>
          <p:cNvSpPr/>
          <p:nvPr/>
        </p:nvSpPr>
        <p:spPr>
          <a:xfrm>
            <a:off x="7891272" y="5440680"/>
            <a:ext cx="164592" cy="164592"/>
          </a:xfrm>
          <a:prstGeom prst="rightArrow">
            <a:avLst/>
          </a:prstGeom>
          <a:solidFill>
            <a:srgbClr val="6E6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34" name="Rounded Rectangle 17433"/>
          <p:cNvSpPr/>
          <p:nvPr/>
        </p:nvSpPr>
        <p:spPr>
          <a:xfrm>
            <a:off x="8129016" y="5321808"/>
            <a:ext cx="3648456" cy="402336"/>
          </a:xfrm>
          <a:prstGeom prst="roundRect">
            <a:avLst>
              <a:gd name="adj" fmla="val 6000"/>
            </a:avLst>
          </a:prstGeom>
          <a:solidFill>
            <a:srgbClr val="F0F0FE"/>
          </a:solidFill>
          <a:ln>
            <a:noFill/>
          </a:ln>
          <a:effectLst/>
        </p:spPr>
        <p:txBody>
          <a:bodyPr rtlCol="0" anchor="ctr" wrap="square" tIns="18288" bIns="18288" rIns="54864"/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B0D12"/>
                </a:solidFill>
                <a:latin typeface="Arial"/>
              </a:rPr>
              <a:t>Four clocks cross-checked; per-channel offset with confidence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5257800" y="5779008"/>
            <a:ext cx="2560320" cy="402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7BECC"/>
            </a:solidFill>
          </a:ln>
          <a:effectLst/>
        </p:spPr>
        <p:txBody>
          <a:bodyPr rtlCol="0" anchor="ctr" wrap="square" tIns="18288" bIns="18288" rIns="54864"/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B0D12"/>
                </a:solidFill>
                <a:latin typeface="Arial"/>
              </a:rPr>
              <a:t>LLM invents a claim in a draft</a:t>
            </a:r>
          </a:p>
        </p:txBody>
      </p:sp>
      <p:sp>
        <p:nvSpPr>
          <p:cNvPr id="17436" name="Right Arrow 17435"/>
          <p:cNvSpPr/>
          <p:nvPr/>
        </p:nvSpPr>
        <p:spPr>
          <a:xfrm>
            <a:off x="7891272" y="5897880"/>
            <a:ext cx="164592" cy="164592"/>
          </a:xfrm>
          <a:prstGeom prst="rightArrow">
            <a:avLst/>
          </a:prstGeom>
          <a:solidFill>
            <a:srgbClr val="6E6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37" name="Rounded Rectangle 17436"/>
          <p:cNvSpPr/>
          <p:nvPr/>
        </p:nvSpPr>
        <p:spPr>
          <a:xfrm>
            <a:off x="8129016" y="5779008"/>
            <a:ext cx="3648456" cy="402336"/>
          </a:xfrm>
          <a:prstGeom prst="roundRect">
            <a:avLst>
              <a:gd name="adj" fmla="val 6000"/>
            </a:avLst>
          </a:prstGeom>
          <a:solidFill>
            <a:srgbClr val="F0F0FE"/>
          </a:solidFill>
          <a:ln>
            <a:noFill/>
          </a:ln>
          <a:effectLst/>
        </p:spPr>
        <p:txBody>
          <a:bodyPr rtlCol="0" anchor="ctr" wrap="square" tIns="18288" bIns="18288" rIns="54864"/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0B0D12"/>
                </a:solidFill>
                <a:latin typeface="Arial"/>
              </a:rPr>
              <a:t>Evidence-ID validator rejects unbacked sentences; draft label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11480" y="1115568"/>
            <a:ext cx="11365992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0D12"/>
                </a:solidFill>
                <a:latin typeface="Arial"/>
              </a:rPr>
              <a:t>One offline, court-ready workflow instead of vendor players and foreign suites.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/>
          <a:lstStyle/>
          <a:p>
            <a:pPr algn="ctr"/>
            <a:r>
              <a:rPr lang="en-US" dirty="0" sz="1200"/>
              <a:t>&lt;TEAM_NAME&gt;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findin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312" y="1591056"/>
            <a:ext cx="4709160" cy="2859926"/>
          </a:xfrm>
          <a:prstGeom prst="rect">
            <a:avLst/>
          </a:prstGeom>
          <a:ln w="9525">
            <a:solidFill>
              <a:srgbClr val="3B4458"/>
            </a:solidFill>
          </a:ln>
        </p:spPr>
      </p:pic>
      <p:sp>
        <p:nvSpPr>
          <p:cNvPr id="17412" name="TextBox 17411"/>
          <p:cNvSpPr txBox="1"/>
          <p:nvPr/>
        </p:nvSpPr>
        <p:spPr>
          <a:xfrm>
            <a:off x="7068312" y="4505846"/>
            <a:ext cx="4709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5B6479"/>
                </a:solidFill>
                <a:latin typeface="Arial"/>
              </a:rPr>
              <a:t>Deletion verdict from the device log (synthetic case)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11480" y="1572768"/>
            <a:ext cx="6382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E6CF5"/>
                </a:solidFill>
                <a:latin typeface="Arial"/>
              </a:rPr>
              <a:t>❖ </a:t>
            </a:r>
            <a:r>
              <a:rPr sz="1400" b="1" i="0">
                <a:solidFill>
                  <a:srgbClr val="6E6CF5"/>
                </a:solidFill>
                <a:latin typeface="Arial"/>
              </a:rPr>
              <a:t>Potential impact on the target audience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11480" y="1892807"/>
            <a:ext cx="1513332" cy="621792"/>
          </a:xfrm>
          <a:prstGeom prst="roundRect">
            <a:avLst>
              <a:gd name="adj" fmla="val 6000"/>
            </a:avLst>
          </a:prstGeom>
          <a:solidFill>
            <a:srgbClr val="F0F0FE"/>
          </a:solidFill>
          <a:ln>
            <a:noFill/>
          </a:ln>
          <a:effectLst/>
        </p:spPr>
        <p:txBody>
          <a:bodyPr rtlCol="0" anchor="ctr" wrap="square" tIns="18288" bIns="18288" rIns="54864"/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0D12"/>
                </a:solidFill>
                <a:latin typeface="Arial"/>
              </a:rPr>
              <a:t>Forensic labs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479"/>
                </a:solidFill>
                <a:latin typeface="Arial"/>
              </a:rPr>
              <a:t>one SOP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2034540" y="1892807"/>
            <a:ext cx="1513332" cy="621792"/>
          </a:xfrm>
          <a:prstGeom prst="roundRect">
            <a:avLst>
              <a:gd name="adj" fmla="val 6000"/>
            </a:avLst>
          </a:prstGeom>
          <a:solidFill>
            <a:srgbClr val="F0F0FE"/>
          </a:solidFill>
          <a:ln>
            <a:noFill/>
          </a:ln>
          <a:effectLst/>
        </p:spPr>
        <p:txBody>
          <a:bodyPr rtlCol="0" anchor="ctr" wrap="square" tIns="18288" bIns="18288" rIns="54864"/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0D12"/>
                </a:solidFill>
                <a:latin typeface="Arial"/>
              </a:rPr>
              <a:t>Cyber cells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479"/>
                </a:solidFill>
                <a:latin typeface="Arial"/>
              </a:rPr>
              <a:t>fast triage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3657600" y="1892807"/>
            <a:ext cx="1513332" cy="621792"/>
          </a:xfrm>
          <a:prstGeom prst="roundRect">
            <a:avLst>
              <a:gd name="adj" fmla="val 6000"/>
            </a:avLst>
          </a:prstGeom>
          <a:solidFill>
            <a:srgbClr val="F0F0FE"/>
          </a:solidFill>
          <a:ln>
            <a:noFill/>
          </a:ln>
          <a:effectLst/>
        </p:spPr>
        <p:txBody>
          <a:bodyPr rtlCol="0" anchor="ctr" wrap="square" tIns="18288" bIns="18288" rIns="54864"/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0D12"/>
                </a:solidFill>
                <a:latin typeface="Arial"/>
              </a:rPr>
              <a:t>Courts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479"/>
                </a:solidFill>
                <a:latin typeface="Arial"/>
              </a:rPr>
              <a:t>verifiable hashes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5280659" y="1892807"/>
            <a:ext cx="1513332" cy="621792"/>
          </a:xfrm>
          <a:prstGeom prst="roundRect">
            <a:avLst>
              <a:gd name="adj" fmla="val 6000"/>
            </a:avLst>
          </a:prstGeom>
          <a:solidFill>
            <a:srgbClr val="F0F0FE"/>
          </a:solidFill>
          <a:ln>
            <a:noFill/>
          </a:ln>
          <a:effectLst/>
        </p:spPr>
        <p:txBody>
          <a:bodyPr rtlCol="0" anchor="ctr" wrap="square" tIns="18288" bIns="18288" rIns="54864"/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0D12"/>
                </a:solidFill>
                <a:latin typeface="Arial"/>
              </a:rPr>
              <a:t>NTRO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479"/>
                </a:solidFill>
                <a:latin typeface="Arial"/>
              </a:rPr>
              <a:t>unknown OEMs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411480" y="2697480"/>
            <a:ext cx="6382512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155448" indent="-155448">
              <a:lnSpc>
                <a:spcPct val="100000"/>
              </a:lnSpc>
              <a:spcAft>
                <a:spcPts val="1000"/>
              </a:spcAft>
              <a:buClr>
                <a:srgbClr val="6E6CF5"/>
              </a:buClr>
              <a:buFont typeface="Arial"/>
              <a:buChar char="•"/>
            </a:pPr>
            <a:r>
              <a:rPr sz="1300" b="1" i="0">
                <a:solidFill>
                  <a:srgbClr val="0B0D12"/>
                </a:solidFill>
                <a:latin typeface="Arial"/>
              </a:rPr>
              <a:t>Single tool: </a:t>
            </a:r>
            <a:r>
              <a:rPr sz="1300" b="0" i="0">
                <a:solidFill>
                  <a:srgbClr val="1E2330"/>
                </a:solidFill>
                <a:latin typeface="Arial"/>
              </a:rPr>
              <a:t>one workflow in place of vendor players and foreign suites</a:t>
            </a:r>
          </a:p>
          <a:p>
            <a:pPr algn="l" marL="155448" indent="-155448">
              <a:lnSpc>
                <a:spcPct val="100000"/>
              </a:lnSpc>
              <a:spcAft>
                <a:spcPts val="1000"/>
              </a:spcAft>
              <a:buClr>
                <a:srgbClr val="6E6CF5"/>
              </a:buClr>
              <a:buFont typeface="Arial"/>
              <a:buChar char="•"/>
            </a:pPr>
            <a:r>
              <a:rPr sz="1300" b="1" i="0">
                <a:solidFill>
                  <a:srgbClr val="0B0D12"/>
                </a:solidFill>
                <a:latin typeface="Arial"/>
              </a:rPr>
              <a:t>Legal-ready: </a:t>
            </a:r>
            <a:r>
              <a:rPr sz="1300" b="0" i="0">
                <a:solidFill>
                  <a:srgbClr val="1E2330"/>
                </a:solidFill>
                <a:latin typeface="Arial"/>
              </a:rPr>
              <a:t>auto-filled BSA s.63 certificate; fits BNSS s.176(3) video workflows</a:t>
            </a:r>
          </a:p>
          <a:p>
            <a:pPr algn="l" marL="155448" indent="-155448">
              <a:lnSpc>
                <a:spcPct val="100000"/>
              </a:lnSpc>
              <a:spcAft>
                <a:spcPts val="1000"/>
              </a:spcAft>
              <a:buClr>
                <a:srgbClr val="6E6CF5"/>
              </a:buClr>
              <a:buFont typeface="Arial"/>
              <a:buChar char="•"/>
            </a:pPr>
            <a:r>
              <a:rPr sz="1300" b="1" i="0">
                <a:solidFill>
                  <a:srgbClr val="0B0D12"/>
                </a:solidFill>
                <a:latin typeface="Arial"/>
              </a:rPr>
              <a:t>Recovery: </a:t>
            </a:r>
            <a:r>
              <a:rPr sz="1300" b="0" i="0">
                <a:solidFill>
                  <a:srgbClr val="1E2330"/>
                </a:solidFill>
                <a:latin typeface="Arial"/>
              </a:rPr>
              <a:t>deleted footage, with method and actor from device logs</a:t>
            </a:r>
          </a:p>
          <a:p>
            <a:pPr algn="l" marL="155448" indent="-155448">
              <a:lnSpc>
                <a:spcPct val="100000"/>
              </a:lnSpc>
              <a:spcAft>
                <a:spcPts val="1000"/>
              </a:spcAft>
              <a:buClr>
                <a:srgbClr val="6E6CF5"/>
              </a:buClr>
              <a:buFont typeface="Arial"/>
              <a:buChar char="•"/>
            </a:pPr>
            <a:r>
              <a:rPr sz="1300" b="1" i="0">
                <a:solidFill>
                  <a:srgbClr val="0B0D12"/>
                </a:solidFill>
                <a:latin typeface="Arial"/>
              </a:rPr>
              <a:t>Triage: </a:t>
            </a:r>
            <a:r>
              <a:rPr sz="1300" b="0" i="0">
                <a:solidFill>
                  <a:srgbClr val="1E2330"/>
                </a:solidFill>
                <a:latin typeface="Arial"/>
              </a:rPr>
              <a:t>synced multi-camera timeline, jump straight to incident time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411480" y="4809744"/>
            <a:ext cx="113659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E6CF5"/>
                </a:solidFill>
                <a:latin typeface="Arial"/>
              </a:rPr>
              <a:t>❖ </a:t>
            </a:r>
            <a:r>
              <a:rPr sz="1400" b="1" i="0">
                <a:solidFill>
                  <a:srgbClr val="6E6CF5"/>
                </a:solidFill>
                <a:latin typeface="Arial"/>
              </a:rPr>
              <a:t>Benefits of the solution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411480" y="5138928"/>
            <a:ext cx="3654552" cy="1078992"/>
          </a:xfrm>
          <a:prstGeom prst="roundRect">
            <a:avLst>
              <a:gd name="adj" fmla="val 6000"/>
            </a:avLst>
          </a:prstGeom>
          <a:solidFill>
            <a:srgbClr val="F0F0FE"/>
          </a:solidFill>
          <a:ln>
            <a:noFill/>
          </a:ln>
          <a:effectLst/>
        </p:spPr>
        <p:txBody>
          <a:bodyPr rtlCol="0" anchor="t" wrap="square" tIns="91440" bIns="36576" lIns="128016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6E6CF5"/>
                </a:solidFill>
                <a:latin typeface="Arial"/>
              </a:rPr>
              <a:t>Social</a:t>
            </a:r>
          </a:p>
          <a:p>
            <a:pPr algn="l" marL="155448" indent="-155448">
              <a:lnSpc>
                <a:spcPct val="100000"/>
              </a:lnSpc>
              <a:spcAft>
                <a:spcPts val="300"/>
              </a:spcAft>
              <a:buClr>
                <a:srgbClr val="6E6CF5"/>
              </a:buClr>
              <a:buFont typeface="Arial"/>
              <a:buChar char="•"/>
            </a:pPr>
            <a:r>
              <a:rPr sz="1200" b="0" i="0">
                <a:solidFill>
                  <a:srgbClr val="1E2330"/>
                </a:solidFill>
                <a:latin typeface="Arial"/>
              </a:rPr>
              <a:t>Faster justice: footage without vendor dependency</a:t>
            </a:r>
          </a:p>
          <a:p>
            <a:pPr algn="l" marL="155448" indent="-155448">
              <a:lnSpc>
                <a:spcPct val="100000"/>
              </a:lnSpc>
              <a:spcAft>
                <a:spcPts val="300"/>
              </a:spcAft>
              <a:buClr>
                <a:srgbClr val="6E6CF5"/>
              </a:buClr>
              <a:buFont typeface="Arial"/>
              <a:buChar char="•"/>
            </a:pPr>
            <a:r>
              <a:rPr sz="1200" b="0" i="0">
                <a:solidFill>
                  <a:srgbClr val="1E2330"/>
                </a:solidFill>
                <a:latin typeface="Arial"/>
              </a:rPr>
              <a:t>Reproducible method that courts can verify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4267200" y="5138928"/>
            <a:ext cx="3654552" cy="1078992"/>
          </a:xfrm>
          <a:prstGeom prst="roundRect">
            <a:avLst>
              <a:gd name="adj" fmla="val 6000"/>
            </a:avLst>
          </a:prstGeom>
          <a:solidFill>
            <a:srgbClr val="F0F0FE"/>
          </a:solidFill>
          <a:ln>
            <a:noFill/>
          </a:ln>
          <a:effectLst/>
        </p:spPr>
        <p:txBody>
          <a:bodyPr rtlCol="0" anchor="t" wrap="square" tIns="91440" bIns="36576" lIns="128016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6E6CF5"/>
                </a:solidFill>
                <a:latin typeface="Arial"/>
              </a:rPr>
              <a:t>Economic</a:t>
            </a:r>
          </a:p>
          <a:p>
            <a:pPr algn="l" marL="155448" indent="-155448">
              <a:lnSpc>
                <a:spcPct val="100000"/>
              </a:lnSpc>
              <a:spcAft>
                <a:spcPts val="300"/>
              </a:spcAft>
              <a:buClr>
                <a:srgbClr val="6E6CF5"/>
              </a:buClr>
              <a:buFont typeface="Arial"/>
              <a:buChar char="•"/>
            </a:pPr>
            <a:r>
              <a:rPr sz="1200" b="0" i="0">
                <a:solidFill>
                  <a:srgbClr val="1E2330"/>
                </a:solidFill>
                <a:latin typeface="Arial"/>
              </a:rPr>
              <a:t>No per-seat foreign licences; Make-in-India stack</a:t>
            </a:r>
          </a:p>
          <a:p>
            <a:pPr algn="l" marL="155448" indent="-155448">
              <a:lnSpc>
                <a:spcPct val="100000"/>
              </a:lnSpc>
              <a:spcAft>
                <a:spcPts val="300"/>
              </a:spcAft>
              <a:buClr>
                <a:srgbClr val="6E6CF5"/>
              </a:buClr>
              <a:buFont typeface="Arial"/>
              <a:buChar char="•"/>
            </a:pPr>
            <a:r>
              <a:rPr sz="1200" b="0" i="0">
                <a:solidFill>
                  <a:srgbClr val="1E2330"/>
                </a:solidFill>
                <a:latin typeface="Arial"/>
              </a:rPr>
              <a:t>Open, reviewable format specs per vendor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8122920" y="5138928"/>
            <a:ext cx="3654552" cy="1078992"/>
          </a:xfrm>
          <a:prstGeom prst="roundRect">
            <a:avLst>
              <a:gd name="adj" fmla="val 6000"/>
            </a:avLst>
          </a:prstGeom>
          <a:solidFill>
            <a:srgbClr val="F0F0FE"/>
          </a:solidFill>
          <a:ln>
            <a:noFill/>
          </a:ln>
          <a:effectLst/>
        </p:spPr>
        <p:txBody>
          <a:bodyPr rtlCol="0" anchor="t" wrap="square" tIns="91440" bIns="36576" lIns="128016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00" b="1" i="0">
                <a:solidFill>
                  <a:srgbClr val="6E6CF5"/>
                </a:solidFill>
                <a:latin typeface="Arial"/>
              </a:rPr>
              <a:t>Security</a:t>
            </a:r>
          </a:p>
          <a:p>
            <a:pPr algn="l" marL="155448" indent="-155448">
              <a:lnSpc>
                <a:spcPct val="100000"/>
              </a:lnSpc>
              <a:spcAft>
                <a:spcPts val="300"/>
              </a:spcAft>
              <a:buClr>
                <a:srgbClr val="6E6CF5"/>
              </a:buClr>
              <a:buFont typeface="Arial"/>
              <a:buChar char="•"/>
            </a:pPr>
            <a:r>
              <a:rPr sz="1200" b="0" i="0">
                <a:solidFill>
                  <a:srgbClr val="1E2330"/>
                </a:solidFill>
                <a:latin typeface="Arial"/>
              </a:rPr>
              <a:t>Air-gapped: evidence never leaves the lab</a:t>
            </a:r>
          </a:p>
          <a:p>
            <a:pPr algn="l" marL="155448" indent="-155448">
              <a:lnSpc>
                <a:spcPct val="100000"/>
              </a:lnSpc>
              <a:spcAft>
                <a:spcPts val="300"/>
              </a:spcAft>
              <a:buClr>
                <a:srgbClr val="6E6CF5"/>
              </a:buClr>
              <a:buFont typeface="Arial"/>
              <a:buChar char="•"/>
            </a:pPr>
            <a:r>
              <a:rPr sz="1200" b="0" i="0">
                <a:solidFill>
                  <a:srgbClr val="1E2330"/>
                </a:solidFill>
                <a:latin typeface="Arial"/>
              </a:rPr>
              <a:t>LLM off by default, metadata only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11480" y="1115568"/>
            <a:ext cx="11365992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0B0D12"/>
                </a:solidFill>
                <a:latin typeface="Arial"/>
              </a:rPr>
              <a:t>Grounded in published DVR forensics research, open standards and Indian evidence law.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none"/>
          <a:lstStyle/>
          <a:p>
            <a:pPr algn="ctr"/>
            <a:r>
              <a:rPr lang="en-US" dirty="0" sz="1200"/>
              <a:t>&lt;TEAM_NAME&gt;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411480" y="1572768"/>
            <a:ext cx="8531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E6CF5"/>
                </a:solidFill>
                <a:latin typeface="Arial"/>
              </a:rPr>
              <a:t>❖ </a:t>
            </a:r>
            <a:r>
              <a:rPr sz="1400" b="1" i="0">
                <a:solidFill>
                  <a:srgbClr val="6E6CF5"/>
                </a:solidFill>
                <a:latin typeface="Arial"/>
              </a:rPr>
              <a:t>Details / Links of the reference and research work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11480" y="1892807"/>
            <a:ext cx="4174236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7BECC"/>
            </a:solidFill>
          </a:ln>
          <a:effectLst/>
        </p:spPr>
        <p:txBody>
          <a:bodyPr rtlCol="0" anchor="ctr" wrap="square" tIns="27432" bIns="27432" lIns="530352" rIns="73152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0B0D12"/>
                </a:solidFill>
                <a:latin typeface="Arial"/>
              </a:rPr>
              <a:t>Han, Jeong &amp; Lee · ICDF2C · 2015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479"/>
                </a:solidFill>
                <a:latin typeface="Arial"/>
              </a:rPr>
              <a:t>Hikvision DVR file system → HIKSIM parser model</a:t>
            </a:r>
          </a:p>
        </p:txBody>
      </p:sp>
      <p:sp>
        <p:nvSpPr>
          <p:cNvPr id="17413" name="Oval 17412"/>
          <p:cNvSpPr/>
          <p:nvPr/>
        </p:nvSpPr>
        <p:spPr>
          <a:xfrm>
            <a:off x="521208" y="2121408"/>
            <a:ext cx="310896" cy="310896"/>
          </a:xfrm>
          <a:prstGeom prst="ellipse">
            <a:avLst/>
          </a:prstGeom>
          <a:solidFill>
            <a:srgbClr val="6E6CF5"/>
          </a:solidFill>
          <a:ln>
            <a:noFill/>
          </a:ln>
          <a:effectLst/>
        </p:spPr>
        <p:txBody>
          <a:bodyPr rtlCol="0" anchor="ctr" lIns="0" tIns="0" rIns="0" bIns="0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11480" y="2724911"/>
            <a:ext cx="4174236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7BECC"/>
            </a:solidFill>
          </a:ln>
          <a:effectLst/>
        </p:spPr>
        <p:txBody>
          <a:bodyPr rtlCol="0" anchor="ctr" wrap="square" tIns="27432" bIns="27432" lIns="530352" rIns="73152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0B0D12"/>
                </a:solidFill>
                <a:latin typeface="Arial"/>
              </a:rPr>
              <a:t>Dragonas et al. · J. Forensic Sci. · 2023 / 2024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479"/>
                </a:solidFill>
                <a:latin typeface="Arial"/>
              </a:rPr>
              <a:t>Hikvision and Dahua log records → actor attribution</a:t>
            </a:r>
          </a:p>
        </p:txBody>
      </p:sp>
      <p:sp>
        <p:nvSpPr>
          <p:cNvPr id="17415" name="Oval 17414"/>
          <p:cNvSpPr/>
          <p:nvPr/>
        </p:nvSpPr>
        <p:spPr>
          <a:xfrm>
            <a:off x="521208" y="2953511"/>
            <a:ext cx="310896" cy="310896"/>
          </a:xfrm>
          <a:prstGeom prst="ellipse">
            <a:avLst/>
          </a:prstGeom>
          <a:solidFill>
            <a:srgbClr val="6E6CF5"/>
          </a:solidFill>
          <a:ln>
            <a:noFill/>
          </a:ln>
          <a:effectLst/>
        </p:spPr>
        <p:txBody>
          <a:bodyPr rtlCol="0" anchor="ctr" lIns="0" tIns="0" rIns="0" bIns="0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411480" y="3557015"/>
            <a:ext cx="4174236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7BECC"/>
            </a:solidFill>
          </a:ln>
          <a:effectLst/>
        </p:spPr>
        <p:txBody>
          <a:bodyPr rtlCol="0" anchor="ctr" wrap="square" tIns="27432" bIns="27432" lIns="530352" rIns="73152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0B0D12"/>
                </a:solidFill>
                <a:latin typeface="Arial"/>
              </a:rPr>
              <a:t>Rzayeva et al. · Information · 2025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479"/>
                </a:solidFill>
                <a:latin typeface="Arial"/>
              </a:rPr>
              <a:t>DVR recovery benchmark → our recovery target</a:t>
            </a:r>
          </a:p>
        </p:txBody>
      </p:sp>
      <p:sp>
        <p:nvSpPr>
          <p:cNvPr id="17417" name="Oval 17416"/>
          <p:cNvSpPr/>
          <p:nvPr/>
        </p:nvSpPr>
        <p:spPr>
          <a:xfrm>
            <a:off x="521208" y="3785615"/>
            <a:ext cx="310896" cy="310896"/>
          </a:xfrm>
          <a:prstGeom prst="ellipse">
            <a:avLst/>
          </a:prstGeom>
          <a:solidFill>
            <a:srgbClr val="6E6CF5"/>
          </a:solidFill>
          <a:ln>
            <a:noFill/>
          </a:ln>
          <a:effectLst/>
        </p:spPr>
        <p:txBody>
          <a:bodyPr rtlCol="0" anchor="ctr" lIns="0" tIns="0" rIns="0" bIns="0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411480" y="4389119"/>
            <a:ext cx="4174236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7BECC"/>
            </a:solidFill>
          </a:ln>
          <a:effectLst/>
        </p:spPr>
        <p:txBody>
          <a:bodyPr rtlCol="0" anchor="ctr" wrap="square" tIns="27432" bIns="27432" lIns="530352" rIns="73152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0B0D12"/>
                </a:solidFill>
                <a:latin typeface="Arial"/>
              </a:rPr>
              <a:t>Yoon &amp; Hwang · DFRWS USA · 2026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479"/>
                </a:solidFill>
                <a:latin typeface="Arial"/>
              </a:rPr>
              <a:t>Honeywell DVR file system → HWSIM parser model</a:t>
            </a:r>
          </a:p>
        </p:txBody>
      </p:sp>
      <p:sp>
        <p:nvSpPr>
          <p:cNvPr id="17419" name="Oval 17418"/>
          <p:cNvSpPr/>
          <p:nvPr/>
        </p:nvSpPr>
        <p:spPr>
          <a:xfrm>
            <a:off x="521208" y="4617719"/>
            <a:ext cx="310896" cy="310896"/>
          </a:xfrm>
          <a:prstGeom prst="ellipse">
            <a:avLst/>
          </a:prstGeom>
          <a:solidFill>
            <a:srgbClr val="6E6CF5"/>
          </a:solidFill>
          <a:ln>
            <a:noFill/>
          </a:ln>
          <a:effectLst/>
        </p:spPr>
        <p:txBody>
          <a:bodyPr rtlCol="0" anchor="ctr" lIns="0" tIns="0" rIns="0" bIns="0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411480" y="5221223"/>
            <a:ext cx="4174236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7BECC"/>
            </a:solidFill>
          </a:ln>
          <a:effectLst/>
        </p:spPr>
        <p:txBody>
          <a:bodyPr rtlCol="0" anchor="ctr" wrap="square" tIns="27432" bIns="27432" lIns="530352" rIns="73152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0B0D12"/>
                </a:solidFill>
                <a:latin typeface="Arial"/>
              </a:rPr>
              <a:t>SWGDE · DVR acquisition best practices · 2025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479"/>
                </a:solidFill>
                <a:latin typeface="Arial"/>
              </a:rPr>
              <a:t>Seizure-clock SOP → intake fields, clock offset</a:t>
            </a:r>
          </a:p>
        </p:txBody>
      </p:sp>
      <p:sp>
        <p:nvSpPr>
          <p:cNvPr id="17421" name="Oval 17420"/>
          <p:cNvSpPr/>
          <p:nvPr/>
        </p:nvSpPr>
        <p:spPr>
          <a:xfrm>
            <a:off x="521208" y="5449823"/>
            <a:ext cx="310896" cy="310896"/>
          </a:xfrm>
          <a:prstGeom prst="ellipse">
            <a:avLst/>
          </a:prstGeom>
          <a:solidFill>
            <a:srgbClr val="6E6CF5"/>
          </a:solidFill>
          <a:ln>
            <a:noFill/>
          </a:ln>
          <a:effectLst/>
        </p:spPr>
        <p:txBody>
          <a:bodyPr rtlCol="0" anchor="ctr" lIns="0" tIns="0" rIns="0" bIns="0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4768596" y="1892807"/>
            <a:ext cx="4174236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7BECC"/>
            </a:solidFill>
          </a:ln>
          <a:effectLst/>
        </p:spPr>
        <p:txBody>
          <a:bodyPr rtlCol="0" anchor="ctr" wrap="square" tIns="27432" bIns="27432" lIns="530352" rIns="73152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0B0D12"/>
                </a:solidFill>
                <a:latin typeface="Arial"/>
              </a:rPr>
              <a:t>ONVIF Export File Format · IEC 62676-2-32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479"/>
                </a:solidFill>
                <a:latin typeface="Arial"/>
              </a:rPr>
              <a:t>Signed export design (not yet conformance-tested)</a:t>
            </a:r>
          </a:p>
        </p:txBody>
      </p:sp>
      <p:sp>
        <p:nvSpPr>
          <p:cNvPr id="17423" name="Oval 17422"/>
          <p:cNvSpPr/>
          <p:nvPr/>
        </p:nvSpPr>
        <p:spPr>
          <a:xfrm>
            <a:off x="4878324" y="2121408"/>
            <a:ext cx="310896" cy="310896"/>
          </a:xfrm>
          <a:prstGeom prst="ellipse">
            <a:avLst/>
          </a:prstGeom>
          <a:solidFill>
            <a:srgbClr val="6E6CF5"/>
          </a:solidFill>
          <a:ln>
            <a:noFill/>
          </a:ln>
          <a:effectLst/>
        </p:spPr>
        <p:txBody>
          <a:bodyPr rtlCol="0" anchor="ctr" lIns="0" tIns="0" rIns="0" bIns="0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4768596" y="2724911"/>
            <a:ext cx="4174236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7BECC"/>
            </a:solidFill>
          </a:ln>
          <a:effectLst/>
        </p:spPr>
        <p:txBody>
          <a:bodyPr rtlCol="0" anchor="ctr" wrap="square" tIns="27432" bIns="27432" lIns="530352" rIns="73152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0B0D12"/>
                </a:solidFill>
                <a:latin typeface="Arial"/>
              </a:rPr>
              <a:t>NIST · NISTIR 8161 Rev. 1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479"/>
                </a:solidFill>
                <a:latin typeface="Arial"/>
              </a:rPr>
              <a:t>CCTV digital video export profile → export design</a:t>
            </a:r>
          </a:p>
        </p:txBody>
      </p:sp>
      <p:sp>
        <p:nvSpPr>
          <p:cNvPr id="17425" name="Oval 17424"/>
          <p:cNvSpPr/>
          <p:nvPr/>
        </p:nvSpPr>
        <p:spPr>
          <a:xfrm>
            <a:off x="4878324" y="2953511"/>
            <a:ext cx="310896" cy="310896"/>
          </a:xfrm>
          <a:prstGeom prst="ellipse">
            <a:avLst/>
          </a:prstGeom>
          <a:solidFill>
            <a:srgbClr val="6E6CF5"/>
          </a:solidFill>
          <a:ln>
            <a:noFill/>
          </a:ln>
          <a:effectLst/>
        </p:spPr>
        <p:txBody>
          <a:bodyPr rtlCol="0" anchor="ctr" lIns="0" tIns="0" rIns="0" bIns="0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4768596" y="3557015"/>
            <a:ext cx="4174236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7BECC"/>
            </a:solidFill>
          </a:ln>
          <a:effectLst/>
        </p:spPr>
        <p:txBody>
          <a:bodyPr rtlCol="0" anchor="ctr" wrap="square" tIns="27432" bIns="27432" lIns="530352" rIns="73152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0B0D12"/>
                </a:solidFill>
                <a:latin typeface="Arial"/>
              </a:rPr>
              <a:t>BSA 2023 s.63 · Pune Bar Assn. v. UoI (2026)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479"/>
                </a:solidFill>
                <a:latin typeface="Arial"/>
              </a:rPr>
              <a:t>Certificate format → auto-filled s.63 template</a:t>
            </a:r>
          </a:p>
        </p:txBody>
      </p:sp>
      <p:sp>
        <p:nvSpPr>
          <p:cNvPr id="17427" name="Oval 17426"/>
          <p:cNvSpPr/>
          <p:nvPr/>
        </p:nvSpPr>
        <p:spPr>
          <a:xfrm>
            <a:off x="4878324" y="3785615"/>
            <a:ext cx="310896" cy="310896"/>
          </a:xfrm>
          <a:prstGeom prst="ellipse">
            <a:avLst/>
          </a:prstGeom>
          <a:solidFill>
            <a:srgbClr val="6E6CF5"/>
          </a:solidFill>
          <a:ln>
            <a:noFill/>
          </a:ln>
          <a:effectLst/>
        </p:spPr>
        <p:txBody>
          <a:bodyPr rtlCol="0" anchor="ctr" lIns="0" tIns="0" rIns="0" bIns="0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4768596" y="4389119"/>
            <a:ext cx="4174236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7BECC"/>
            </a:solidFill>
          </a:ln>
          <a:effectLst/>
        </p:spPr>
        <p:txBody>
          <a:bodyPr rtlCol="0" anchor="ctr" wrap="square" tIns="27432" bIns="27432" lIns="530352" rIns="73152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0B0D12"/>
                </a:solidFill>
                <a:latin typeface="Arial"/>
              </a:rPr>
              <a:t>NIST CFReDS · HeimVision DVR image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479"/>
                </a:solidFill>
                <a:latin typeface="Arial"/>
              </a:rPr>
              <a:t>Public DVR image → planned smoke test</a:t>
            </a:r>
          </a:p>
        </p:txBody>
      </p:sp>
      <p:sp>
        <p:nvSpPr>
          <p:cNvPr id="17429" name="Oval 17428"/>
          <p:cNvSpPr/>
          <p:nvPr/>
        </p:nvSpPr>
        <p:spPr>
          <a:xfrm>
            <a:off x="4878324" y="4617719"/>
            <a:ext cx="310896" cy="310896"/>
          </a:xfrm>
          <a:prstGeom prst="ellipse">
            <a:avLst/>
          </a:prstGeom>
          <a:solidFill>
            <a:srgbClr val="6E6CF5"/>
          </a:solidFill>
          <a:ln>
            <a:noFill/>
          </a:ln>
          <a:effectLst/>
        </p:spPr>
        <p:txBody>
          <a:bodyPr rtlCol="0" anchor="ctr" lIns="0" tIns="0" rIns="0" bIns="0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4768596" y="5221223"/>
            <a:ext cx="4174236" cy="7680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7BECC"/>
            </a:solidFill>
          </a:ln>
          <a:effectLst/>
        </p:spPr>
        <p:txBody>
          <a:bodyPr rtlCol="0" anchor="ctr" wrap="square" tIns="27432" bIns="27432" lIns="530352" rIns="73152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 i="0">
                <a:solidFill>
                  <a:srgbClr val="0B0D12"/>
                </a:solidFill>
                <a:latin typeface="Arial"/>
              </a:rPr>
              <a:t>MeitY / STQC · CCTV Essential Requirements</a:t>
            </a:r>
          </a:p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B6479"/>
                </a:solidFill>
                <a:latin typeface="Arial"/>
              </a:rPr>
              <a:t>Firmware security shift → encrypted-disk risk</a:t>
            </a:r>
          </a:p>
        </p:txBody>
      </p:sp>
      <p:sp>
        <p:nvSpPr>
          <p:cNvPr id="17431" name="Oval 17430"/>
          <p:cNvSpPr/>
          <p:nvPr/>
        </p:nvSpPr>
        <p:spPr>
          <a:xfrm>
            <a:off x="4878324" y="5449823"/>
            <a:ext cx="310896" cy="310896"/>
          </a:xfrm>
          <a:prstGeom prst="ellipse">
            <a:avLst/>
          </a:prstGeom>
          <a:solidFill>
            <a:srgbClr val="6E6CF5"/>
          </a:solidFill>
          <a:ln>
            <a:noFill/>
          </a:ln>
          <a:effectLst/>
        </p:spPr>
        <p:txBody>
          <a:bodyPr rtlCol="0" anchor="ctr" lIns="0" tIns="0" rIns="0" bIns="0"/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9217152" y="1591056"/>
            <a:ext cx="2560320" cy="4626864"/>
          </a:xfrm>
          <a:prstGeom prst="roundRect">
            <a:avLst>
              <a:gd name="adj" fmla="val 4000"/>
            </a:avLst>
          </a:prstGeom>
          <a:solidFill>
            <a:srgbClr val="F0F0FE"/>
          </a:solidFill>
          <a:ln>
            <a:noFill/>
          </a:ln>
          <a:effectLst/>
        </p:spPr>
        <p:txBody>
          <a:bodyPr rtlCol="0" anchor="ctr" wrap="square" tIns="54864" bIns="54864"/>
          <a:lstStyle/>
          <a:p>
            <a:pPr algn="ctr"/>
          </a:p>
        </p:txBody>
      </p:sp>
      <p:pic>
        <p:nvPicPr>
          <p:cNvPr id="17433" name="Picture 17432" descr="qr_rep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6648" y="1755648"/>
            <a:ext cx="1481328" cy="1481328"/>
          </a:xfrm>
          <a:prstGeom prst="rect">
            <a:avLst/>
          </a:prstGeom>
        </p:spPr>
      </p:pic>
      <p:sp>
        <p:nvSpPr>
          <p:cNvPr id="17434" name="TextBox 17433"/>
          <p:cNvSpPr txBox="1"/>
          <p:nvPr/>
        </p:nvSpPr>
        <p:spPr>
          <a:xfrm>
            <a:off x="9345168" y="3328416"/>
            <a:ext cx="230428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6E6CF5"/>
                </a:solidFill>
                <a:latin typeface="Arial"/>
              </a:rPr>
              <a:t>Source code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0B0D12"/>
                </a:solidFill>
                <a:latin typeface="Arial"/>
                <a:hlinkClick r:id="rId5"/>
              </a:rPr>
              <a:t>github.com/MuaazSM/pramaan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9345168" y="4133087"/>
            <a:ext cx="230428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1" i="0">
                <a:solidFill>
                  <a:srgbClr val="6E6CF5"/>
                </a:solidFill>
                <a:latin typeface="Arial"/>
              </a:rPr>
              <a:t>Demo video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0B0D12"/>
                </a:solidFill>
                <a:latin typeface="Arial"/>
              </a:rPr>
              <a:t>&lt;DEMO_VIDEO_URL&gt;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9363456" y="4937760"/>
            <a:ext cx="226771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B6479"/>
                </a:solidFill>
                <a:latin typeface="Arial"/>
              </a:rPr>
              <a:t>All results so far are on our synthetic corpus; real-disk validation is the next milestone.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